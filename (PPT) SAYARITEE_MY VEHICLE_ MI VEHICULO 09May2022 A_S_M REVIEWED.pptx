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07" r:id="rId1"/>
    <p:sldMasterId id="2147483708" r:id="rId2"/>
  </p:sldMasterIdLst>
  <p:notesMasterIdLst>
    <p:notesMasterId r:id="rId38"/>
  </p:notesMasterIdLst>
  <p:sldIdLst>
    <p:sldId id="256" r:id="rId3"/>
    <p:sldId id="293" r:id="rId4"/>
    <p:sldId id="273" r:id="rId5"/>
    <p:sldId id="316" r:id="rId6"/>
    <p:sldId id="318" r:id="rId7"/>
    <p:sldId id="317" r:id="rId8"/>
    <p:sldId id="258" r:id="rId9"/>
    <p:sldId id="259" r:id="rId10"/>
    <p:sldId id="260" r:id="rId11"/>
    <p:sldId id="261" r:id="rId12"/>
    <p:sldId id="279" r:id="rId13"/>
    <p:sldId id="264" r:id="rId14"/>
    <p:sldId id="262" r:id="rId15"/>
    <p:sldId id="263" r:id="rId16"/>
    <p:sldId id="276" r:id="rId17"/>
    <p:sldId id="282" r:id="rId18"/>
    <p:sldId id="288" r:id="rId19"/>
    <p:sldId id="295" r:id="rId20"/>
    <p:sldId id="296" r:id="rId21"/>
    <p:sldId id="265" r:id="rId22"/>
    <p:sldId id="289" r:id="rId23"/>
    <p:sldId id="290" r:id="rId24"/>
    <p:sldId id="291" r:id="rId25"/>
    <p:sldId id="297" r:id="rId26"/>
    <p:sldId id="312" r:id="rId27"/>
    <p:sldId id="315" r:id="rId28"/>
    <p:sldId id="313" r:id="rId29"/>
    <p:sldId id="314" r:id="rId30"/>
    <p:sldId id="306" r:id="rId31"/>
    <p:sldId id="300" r:id="rId32"/>
    <p:sldId id="301" r:id="rId33"/>
    <p:sldId id="302" r:id="rId34"/>
    <p:sldId id="305" r:id="rId35"/>
    <p:sldId id="307" r:id="rId36"/>
    <p:sldId id="269" r:id="rId37"/>
  </p:sldIdLst>
  <p:sldSz cx="9144000" cy="5143500" type="screen16x9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30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577"/>
  </p:normalViewPr>
  <p:slideViewPr>
    <p:cSldViewPr snapToGrid="0">
      <p:cViewPr varScale="1">
        <p:scale>
          <a:sx n="155" d="100"/>
          <a:sy n="155" d="100"/>
        </p:scale>
        <p:origin x="592" y="184"/>
      </p:cViewPr>
      <p:guideLst>
        <p:guide orient="horz" pos="1620"/>
        <p:guide pos="2880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tfs-bsqatar/Desktop/sayaritee%20business%20plan/monthly%20recurring%20revenu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tfs-bsqatar/Desktop/sayaritee%20business%20plan/monthly%20recurring%20revenu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MRR</a:t>
            </a:r>
            <a:r>
              <a:rPr lang="en-US" baseline="0"/>
              <a:t> overview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'MRR overview'!$A$2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'MRR overview'!$B$1:$M$1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sept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'MRR overview'!$B$2:$M$2</c:f>
              <c:numCache>
                <c:formatCode>0</c:formatCode>
                <c:ptCount val="12"/>
                <c:pt idx="0">
                  <c:v>187500</c:v>
                </c:pt>
                <c:pt idx="1">
                  <c:v>225000</c:v>
                </c:pt>
                <c:pt idx="2">
                  <c:v>194400.00000000003</c:v>
                </c:pt>
                <c:pt idx="3">
                  <c:v>434678.40000000008</c:v>
                </c:pt>
                <c:pt idx="4">
                  <c:v>246452.54400000005</c:v>
                </c:pt>
                <c:pt idx="5">
                  <c:v>275169.62304000009</c:v>
                </c:pt>
                <c:pt idx="6">
                  <c:v>276889.43318400008</c:v>
                </c:pt>
                <c:pt idx="7">
                  <c:v>354298.08776544011</c:v>
                </c:pt>
                <c:pt idx="8">
                  <c:v>292099.09013550734</c:v>
                </c:pt>
                <c:pt idx="9">
                  <c:v>401844.89114356227</c:v>
                </c:pt>
                <c:pt idx="10">
                  <c:v>340526.33738387795</c:v>
                </c:pt>
                <c:pt idx="11">
                  <c:v>398570.59943794808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48-8D4D-88B7-9004F45077A2}"/>
            </c:ext>
          </c:extLst>
        </c:ser>
        <c:ser>
          <c:idx val="1"/>
          <c:order val="1"/>
          <c:tx>
            <c:strRef>
              <c:f>'MRR overview'!$A$3</c:f>
              <c:strCache>
                <c:ptCount val="1"/>
                <c:pt idx="0">
                  <c:v>Expansion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'MRR overview'!$B$1:$M$1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sept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'MRR overview'!$B$3:$M$3</c:f>
              <c:numCache>
                <c:formatCode>0</c:formatCode>
                <c:ptCount val="12"/>
                <c:pt idx="0">
                  <c:v>232500</c:v>
                </c:pt>
                <c:pt idx="1">
                  <c:v>279000</c:v>
                </c:pt>
                <c:pt idx="2">
                  <c:v>233280.00000000003</c:v>
                </c:pt>
                <c:pt idx="3">
                  <c:v>161740.80000000002</c:v>
                </c:pt>
                <c:pt idx="4">
                  <c:v>321459.84000000008</c:v>
                </c:pt>
                <c:pt idx="5">
                  <c:v>206377.21728000007</c:v>
                </c:pt>
                <c:pt idx="6">
                  <c:v>192618.73612800005</c:v>
                </c:pt>
                <c:pt idx="7">
                  <c:v>223076.5737782401</c:v>
                </c:pt>
                <c:pt idx="8">
                  <c:v>417284.41447929619</c:v>
                </c:pt>
                <c:pt idx="9">
                  <c:v>312546.02644499287</c:v>
                </c:pt>
                <c:pt idx="10">
                  <c:v>356004.80726496334</c:v>
                </c:pt>
                <c:pt idx="11">
                  <c:v>350742.12750539428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648-8D4D-88B7-9004F45077A2}"/>
            </c:ext>
          </c:extLst>
        </c:ser>
        <c:ser>
          <c:idx val="2"/>
          <c:order val="2"/>
          <c:tx>
            <c:strRef>
              <c:f>'MRR overview'!$A$4</c:f>
              <c:strCache>
                <c:ptCount val="1"/>
                <c:pt idx="0">
                  <c:v>Reactivation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'MRR overview'!$B$1:$M$1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sept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'MRR overview'!$B$4:$M$4</c:f>
              <c:numCache>
                <c:formatCode>0</c:formatCode>
                <c:ptCount val="12"/>
                <c:pt idx="0">
                  <c:v>150000</c:v>
                </c:pt>
                <c:pt idx="1">
                  <c:v>180000</c:v>
                </c:pt>
                <c:pt idx="2">
                  <c:v>136080.00000000003</c:v>
                </c:pt>
                <c:pt idx="3">
                  <c:v>141523.20000000001</c:v>
                </c:pt>
                <c:pt idx="4">
                  <c:v>225021.88800000004</c:v>
                </c:pt>
                <c:pt idx="5">
                  <c:v>298100.42496000009</c:v>
                </c:pt>
                <c:pt idx="6">
                  <c:v>288928.10419200012</c:v>
                </c:pt>
                <c:pt idx="7">
                  <c:v>262443.02797440009</c:v>
                </c:pt>
                <c:pt idx="8">
                  <c:v>208642.20723964809</c:v>
                </c:pt>
                <c:pt idx="9">
                  <c:v>267896.59409570816</c:v>
                </c:pt>
                <c:pt idx="10">
                  <c:v>247655.5180973658</c:v>
                </c:pt>
                <c:pt idx="11">
                  <c:v>286970.83159532264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648-8D4D-88B7-9004F45077A2}"/>
            </c:ext>
          </c:extLst>
        </c:ser>
        <c:ser>
          <c:idx val="3"/>
          <c:order val="3"/>
          <c:tx>
            <c:strRef>
              <c:f>'MRR overview'!$A$5</c:f>
              <c:strCache>
                <c:ptCount val="1"/>
                <c:pt idx="0">
                  <c:v>Contraction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'MRR overview'!$B$1:$M$1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sept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'MRR overview'!$B$5:$M$5</c:f>
              <c:numCache>
                <c:formatCode>0</c:formatCode>
                <c:ptCount val="12"/>
                <c:pt idx="0">
                  <c:v>45000</c:v>
                </c:pt>
                <c:pt idx="1">
                  <c:v>54000</c:v>
                </c:pt>
                <c:pt idx="2">
                  <c:v>29160.000000000004</c:v>
                </c:pt>
                <c:pt idx="3">
                  <c:v>60652.80000000001</c:v>
                </c:pt>
                <c:pt idx="4">
                  <c:v>107153.28000000004</c:v>
                </c:pt>
                <c:pt idx="5">
                  <c:v>103188.60864000003</c:v>
                </c:pt>
                <c:pt idx="6">
                  <c:v>96309.368064000024</c:v>
                </c:pt>
                <c:pt idx="7">
                  <c:v>91855.059791040054</c:v>
                </c:pt>
                <c:pt idx="8">
                  <c:v>69547.402413216041</c:v>
                </c:pt>
                <c:pt idx="9">
                  <c:v>89298.864698569378</c:v>
                </c:pt>
                <c:pt idx="10">
                  <c:v>123827.7590486829</c:v>
                </c:pt>
                <c:pt idx="11">
                  <c:v>111599.76784262546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648-8D4D-88B7-9004F45077A2}"/>
            </c:ext>
          </c:extLst>
        </c:ser>
        <c:ser>
          <c:idx val="4"/>
          <c:order val="4"/>
          <c:tx>
            <c:strRef>
              <c:f>'MRR overview'!$A$6</c:f>
              <c:strCache>
                <c:ptCount val="1"/>
                <c:pt idx="0">
                  <c:v>Churn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'MRR overview'!$B$1:$M$1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sept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'MRR overview'!$B$6:$M$6</c:f>
              <c:numCache>
                <c:formatCode>0</c:formatCode>
                <c:ptCount val="12"/>
                <c:pt idx="0">
                  <c:v>75000</c:v>
                </c:pt>
                <c:pt idx="1">
                  <c:v>90000</c:v>
                </c:pt>
                <c:pt idx="2">
                  <c:v>48600.000000000007</c:v>
                </c:pt>
                <c:pt idx="3">
                  <c:v>70761.600000000006</c:v>
                </c:pt>
                <c:pt idx="4">
                  <c:v>53576.640000000021</c:v>
                </c:pt>
                <c:pt idx="5">
                  <c:v>68792.405760000023</c:v>
                </c:pt>
                <c:pt idx="6">
                  <c:v>60193.355040000017</c:v>
                </c:pt>
                <c:pt idx="7">
                  <c:v>52488.60559488002</c:v>
                </c:pt>
                <c:pt idx="8">
                  <c:v>83456.882895859235</c:v>
                </c:pt>
                <c:pt idx="9">
                  <c:v>74415.720582141163</c:v>
                </c:pt>
                <c:pt idx="10">
                  <c:v>108349.28916759754</c:v>
                </c:pt>
                <c:pt idx="11">
                  <c:v>79714.119887589623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648-8D4D-88B7-9004F45077A2}"/>
            </c:ext>
          </c:extLst>
        </c:ser>
        <c:ser>
          <c:idx val="5"/>
          <c:order val="5"/>
          <c:tx>
            <c:strRef>
              <c:f>'MRR overview'!$A$7</c:f>
              <c:strCache>
                <c:ptCount val="1"/>
                <c:pt idx="0">
                  <c:v>Change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'MRR overview'!$B$1:$M$1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sept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'MRR overview'!$B$7:$M$7</c:f>
              <c:numCache>
                <c:formatCode>0</c:formatCode>
                <c:ptCount val="12"/>
                <c:pt idx="0">
                  <c:v>60000</c:v>
                </c:pt>
                <c:pt idx="1">
                  <c:v>72000</c:v>
                </c:pt>
                <c:pt idx="2">
                  <c:v>223560.00000000003</c:v>
                </c:pt>
                <c:pt idx="3">
                  <c:v>141523.20000000001</c:v>
                </c:pt>
                <c:pt idx="4">
                  <c:v>117868.60800000002</c:v>
                </c:pt>
                <c:pt idx="5">
                  <c:v>194911.81632000007</c:v>
                </c:pt>
                <c:pt idx="6">
                  <c:v>288928.10419200012</c:v>
                </c:pt>
                <c:pt idx="7">
                  <c:v>328053.78496800014</c:v>
                </c:pt>
                <c:pt idx="8">
                  <c:v>319918.05110079376</c:v>
                </c:pt>
                <c:pt idx="9">
                  <c:v>342312.31467784935</c:v>
                </c:pt>
                <c:pt idx="10">
                  <c:v>371483.27714604867</c:v>
                </c:pt>
                <c:pt idx="11">
                  <c:v>366684.95148291223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648-8D4D-88B7-9004F45077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38603007"/>
        <c:axId val="938604655"/>
      </c:barChart>
      <c:catAx>
        <c:axId val="9386030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8604655"/>
        <c:crosses val="autoZero"/>
        <c:auto val="1"/>
        <c:lblAlgn val="ctr"/>
        <c:lblOffset val="100"/>
        <c:noMultiLvlLbl val="0"/>
      </c:catAx>
      <c:valAx>
        <c:axId val="9386046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86030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Monthly</a:t>
            </a:r>
            <a:r>
              <a:rPr lang="en-US" baseline="0"/>
              <a:t> Growth Rate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2"/>
          <c:order val="1"/>
          <c:tx>
            <c:strRef>
              <c:f>'monthly growth rate'!$D$1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'monthly growth rate'!$A$2:$A$13</c:f>
              <c:numCache>
                <c:formatCode>mmm\-yy</c:formatCode>
                <c:ptCount val="12"/>
                <c:pt idx="0">
                  <c:v>44562</c:v>
                </c:pt>
                <c:pt idx="1">
                  <c:v>44593</c:v>
                </c:pt>
                <c:pt idx="2">
                  <c:v>44621</c:v>
                </c:pt>
                <c:pt idx="3">
                  <c:v>44652</c:v>
                </c:pt>
                <c:pt idx="4">
                  <c:v>44682</c:v>
                </c:pt>
                <c:pt idx="5">
                  <c:v>44713</c:v>
                </c:pt>
                <c:pt idx="6">
                  <c:v>44743</c:v>
                </c:pt>
                <c:pt idx="7">
                  <c:v>44774</c:v>
                </c:pt>
                <c:pt idx="8">
                  <c:v>44805</c:v>
                </c:pt>
                <c:pt idx="9">
                  <c:v>44835</c:v>
                </c:pt>
                <c:pt idx="10">
                  <c:v>44866</c:v>
                </c:pt>
                <c:pt idx="11">
                  <c:v>44896</c:v>
                </c:pt>
              </c:numCache>
            </c:numRef>
          </c:cat>
          <c:val>
            <c:numRef>
              <c:f>'monthly growth rate'!$D$2:$D$13</c:f>
              <c:numCache>
                <c:formatCode>General</c:formatCode>
                <c:ptCount val="12"/>
                <c:pt idx="0">
                  <c:v>954000</c:v>
                </c:pt>
                <c:pt idx="1">
                  <c:v>1252496.0000000002</c:v>
                </c:pt>
                <c:pt idx="2">
                  <c:v>1745184.0000000002</c:v>
                </c:pt>
                <c:pt idx="3">
                  <c:v>2583584.6400000006</c:v>
                </c:pt>
                <c:pt idx="4">
                  <c:v>3655911.1680000005</c:v>
                </c:pt>
                <c:pt idx="5">
                  <c:v>5221174.5331199998</c:v>
                </c:pt>
                <c:pt idx="6">
                  <c:v>8400350.439935999</c:v>
                </c:pt>
                <c:pt idx="7">
                  <c:v>12338373.493555201</c:v>
                </c:pt>
                <c:pt idx="8">
                  <c:v>17164269.577728</c:v>
                </c:pt>
                <c:pt idx="9">
                  <c:v>22500417.107666537</c:v>
                </c:pt>
                <c:pt idx="10">
                  <c:v>27465553.726774346</c:v>
                </c:pt>
                <c:pt idx="11">
                  <c:v>33810965.561642319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9E-E84E-9792-A70C223611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349296000"/>
        <c:axId val="349299608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'monthly growth rate'!$B$1</c15:sqref>
                        </c15:formulaRef>
                      </c:ext>
                    </c:extLst>
                    <c:strCache>
                      <c:ptCount val="1"/>
                      <c:pt idx="0">
                        <c:v># of customers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cat>
                  <c:numRef>
                    <c:extLst>
                      <c:ext uri="{02D57815-91ED-43cb-92C2-25804820EDAC}">
                        <c15:formulaRef>
                          <c15:sqref>'monthly growth rate'!$A$2:$A$13</c15:sqref>
                        </c15:formulaRef>
                      </c:ext>
                    </c:extLst>
                    <c:numCache>
                      <c:formatCode>mmm\-yy</c:formatCode>
                      <c:ptCount val="12"/>
                      <c:pt idx="0">
                        <c:v>44562</c:v>
                      </c:pt>
                      <c:pt idx="1">
                        <c:v>44593</c:v>
                      </c:pt>
                      <c:pt idx="2">
                        <c:v>44621</c:v>
                      </c:pt>
                      <c:pt idx="3">
                        <c:v>44652</c:v>
                      </c:pt>
                      <c:pt idx="4">
                        <c:v>44682</c:v>
                      </c:pt>
                      <c:pt idx="5">
                        <c:v>44713</c:v>
                      </c:pt>
                      <c:pt idx="6">
                        <c:v>44743</c:v>
                      </c:pt>
                      <c:pt idx="7">
                        <c:v>44774</c:v>
                      </c:pt>
                      <c:pt idx="8">
                        <c:v>44805</c:v>
                      </c:pt>
                      <c:pt idx="9">
                        <c:v>44835</c:v>
                      </c:pt>
                      <c:pt idx="10">
                        <c:v>44866</c:v>
                      </c:pt>
                      <c:pt idx="11">
                        <c:v>44896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'monthly growth rate'!$B$2:$B$13</c15:sqref>
                        </c15:formulaRef>
                      </c:ext>
                    </c:extLst>
                    <c:numCache>
                      <c:formatCode>General</c:formatCode>
                      <c:ptCount val="12"/>
                      <c:pt idx="0">
                        <c:v>180</c:v>
                      </c:pt>
                      <c:pt idx="1">
                        <c:v>211</c:v>
                      </c:pt>
                      <c:pt idx="2">
                        <c:v>245</c:v>
                      </c:pt>
                      <c:pt idx="3">
                        <c:v>279</c:v>
                      </c:pt>
                      <c:pt idx="4">
                        <c:v>329</c:v>
                      </c:pt>
                      <c:pt idx="5">
                        <c:v>382</c:v>
                      </c:pt>
                      <c:pt idx="6">
                        <c:v>439</c:v>
                      </c:pt>
                      <c:pt idx="7">
                        <c:v>496</c:v>
                      </c:pt>
                      <c:pt idx="8">
                        <c:v>575</c:v>
                      </c:pt>
                      <c:pt idx="9">
                        <c:v>673</c:v>
                      </c:pt>
                      <c:pt idx="10">
                        <c:v>727</c:v>
                      </c:pt>
                      <c:pt idx="11">
                        <c:v>792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F59E-E84E-9792-A70C22361155}"/>
                  </c:ext>
                </c:extLst>
              </c15:ser>
            </c15:filteredBarSeries>
          </c:ext>
        </c:extLst>
      </c:barChart>
      <c:dateAx>
        <c:axId val="349296000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9299608"/>
        <c:crosses val="autoZero"/>
        <c:auto val="1"/>
        <c:lblOffset val="100"/>
        <c:baseTimeUnit val="months"/>
      </c:dateAx>
      <c:valAx>
        <c:axId val="349299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9296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9188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10eb8539fce_6_3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10eb8539fce_6_33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00575c9d83_0_1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100575c9d83_0_1387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1948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00575c9d83_0_14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100575c9d83_0_143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54027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00575c9d83_0_14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100575c9d83_0_143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60142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00575c9d83_0_14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100575c9d83_0_143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90093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00575c9d83_0_14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100575c9d83_0_143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49485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p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00575c9d83_0_1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100575c9d83_0_1387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100575c9d83_0_1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100575c9d83_0_1394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100575c9d83_0_14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100575c9d83_0_141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100575c9d83_0_14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100575c9d83_0_141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74915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00575c9d83_0_1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100575c9d83_0_1373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98477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100575c9d83_0_14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100575c9d83_0_140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00575c9d83_0_14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100575c9d83_0_140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00575c9d83_0_14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100575c9d83_0_140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29645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00575c9d83_0_14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100575c9d83_0_140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05511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00575c9d83_0_14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100575c9d83_0_143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86580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00575c9d83_0_14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100575c9d83_0_143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53830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00575c9d83_0_14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100575c9d83_0_143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00575c9d83_0_14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100575c9d83_0_143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35806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00575c9d83_0_14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100575c9d83_0_143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94989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00575c9d83_0_14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100575c9d83_0_143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56788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00575c9d83_0_14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100575c9d83_0_143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32451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100575c9d83_0_1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100575c9d83_0_142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245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100575c9d83_0_1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100575c9d83_0_142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68522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100575c9d83_0_1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100575c9d83_0_142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17398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100575c9d83_0_1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100575c9d83_0_142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35438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100575c9d83_0_1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100575c9d83_0_142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946535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100575c9d83_0_1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100575c9d83_0_142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81030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100575c9d83_0_1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100575c9d83_0_142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78095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100575c9d83_0_1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100575c9d83_0_142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701215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100575c9d83_0_1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100575c9d83_0_142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953531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100575c9d83_0_1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100575c9d83_0_142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49624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100575c9d83_0_13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100575c9d83_0_138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mple Purple Cover">
  <p:cSld name="TITLE_1">
    <p:bg>
      <p:bgPr>
        <a:solidFill>
          <a:schemeClr val="accen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7200" y="2340864"/>
            <a:ext cx="1371600" cy="32695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457200" y="2831925"/>
            <a:ext cx="7329000" cy="139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lt1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457200" y="4269626"/>
            <a:ext cx="75834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pos="1152">
          <p15:clr>
            <a:srgbClr val="FA7B17"/>
          </p15:clr>
        </p15:guide>
        <p15:guide id="3" orient="horz" pos="1476">
          <p15:clr>
            <a:srgbClr val="FA7B17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9" name="Google Shape;89;p2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93" name="Google Shape;93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2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mple Purple Cover">
  <p:cSld name="TITLE_1">
    <p:bg>
      <p:bgPr>
        <a:solidFill>
          <a:schemeClr val="accent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" name="Google Shape;102;p26"/>
          <p:cNvSpPr txBox="1">
            <a:spLocks noGrp="1"/>
          </p:cNvSpPr>
          <p:nvPr>
            <p:ph type="title"/>
          </p:nvPr>
        </p:nvSpPr>
        <p:spPr>
          <a:xfrm>
            <a:off x="457200" y="2831925"/>
            <a:ext cx="7329000" cy="139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lt1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6"/>
          <p:cNvSpPr txBox="1">
            <a:spLocks noGrp="1"/>
          </p:cNvSpPr>
          <p:nvPr>
            <p:ph type="subTitle" idx="1"/>
          </p:nvPr>
        </p:nvSpPr>
        <p:spPr>
          <a:xfrm>
            <a:off x="457200" y="4269626"/>
            <a:ext cx="75834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pos="1152">
          <p15:clr>
            <a:srgbClr val="FA7B17"/>
          </p15:clr>
        </p15:guide>
        <p15:guide id="3" orient="horz" pos="1476">
          <p15:clr>
            <a:srgbClr val="FA7B17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mple Purple Cover 1">
  <p:cSld name="TITLE_2">
    <p:bg>
      <p:bgPr>
        <a:solidFill>
          <a:schemeClr val="accen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27"/>
          <p:cNvSpPr txBox="1">
            <a:spLocks noGrp="1"/>
          </p:cNvSpPr>
          <p:nvPr>
            <p:ph type="title"/>
          </p:nvPr>
        </p:nvSpPr>
        <p:spPr>
          <a:xfrm>
            <a:off x="457200" y="2831925"/>
            <a:ext cx="7329000" cy="139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lt1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7"/>
          <p:cNvSpPr txBox="1">
            <a:spLocks noGrp="1"/>
          </p:cNvSpPr>
          <p:nvPr>
            <p:ph type="subTitle" idx="1"/>
          </p:nvPr>
        </p:nvSpPr>
        <p:spPr>
          <a:xfrm>
            <a:off x="457200" y="4269626"/>
            <a:ext cx="75834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pos="1152">
          <p15:clr>
            <a:srgbClr val="FA7B17"/>
          </p15:clr>
        </p15:guide>
        <p15:guide id="3" orient="horz" pos="1476">
          <p15:clr>
            <a:srgbClr val="FA7B17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986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709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work/DocSend/Marketing/Branding/_Brand%20Assets/Font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work/DocSend/Marketing/Branding/_Brand%20Assets/Font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work/DocSend/Marketing/Branding/_Brand%20Assets/Font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Relationship Id="rId5" Type="http://schemas.openxmlformats.org/officeDocument/2006/relationships/chart" Target="../charts/chart1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work/DocSend/Marketing/Branding/_Brand%20Assets/Font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work/DocSend/Marketing/Branding/_Brand%20Assets/Font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work/DocSend/Marketing/Branding/_Brand%20Assets/Font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work/DocSend/Marketing/Branding/_Brand%20Assets/Font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work/DocSend/Marketing/Branding/_Brand%20Assets/Font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work/DocSend/Marketing/Branding/_Brand%20Assets/Font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work/DocSend/Marketing/Branding/_Brand%20Assets/Font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work/DocSend/Marketing/Branding/_Brand%20Assets/Fonts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work/DocSend/Marketing/Branding/_Brand%20Assets/Fonts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work/DocSend/Marketing/Branding/_Brand%20Assets/Fonts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work/DocSend/Marketing/Branding/_Brand%20Assets/Fonts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work/DocSend/Marketing/Branding/_Brand%20Assets/Fonts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hyperlink" Target="https://www.dropbox.com/work/DocSend/Marketing/Branding/_Brand%20Assets/Fonts" TargetMode="External"/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work/DocSend/Marketing/Branding/_Brand%20Assets/Fonts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2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work/DocSend/Marketing/Branding/_Brand%20Assets/Fonts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work/DocSend/Marketing/Branding/_Brand%20Assets/Fonts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emf"/><Relationship Id="rId4" Type="http://schemas.openxmlformats.org/officeDocument/2006/relationships/package" Target="../embeddings/Microsoft_Excel_Worksheet.xlsx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work/DocSend/Marketing/Branding/_Brand%20Assets/Fonts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emf"/><Relationship Id="rId4" Type="http://schemas.openxmlformats.org/officeDocument/2006/relationships/package" Target="../embeddings/Microsoft_Excel_Worksheet1.xlsx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work/DocSend/Marketing/Branding/_Brand%20Assets/Fonts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emf"/><Relationship Id="rId4" Type="http://schemas.openxmlformats.org/officeDocument/2006/relationships/package" Target="../embeddings/Microsoft_Excel_Worksheet2.xlsx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work/DocSend/Marketing/Branding/_Brand%20Assets/Fonts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emf"/><Relationship Id="rId4" Type="http://schemas.openxmlformats.org/officeDocument/2006/relationships/package" Target="../embeddings/Microsoft_Excel_Worksheet3.xlsx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work/DocSend/Marketing/Branding/_Brand%20Assets/Fonts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work/DocSend/Marketing/Branding/_Brand%20Assets/Fonts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work/DocSend/Marketing/Branding/_Brand%20Assets/Fonts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work/DocSend/Marketing/Branding/_Brand%20Assets/Fonts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work/DocSend/Marketing/Branding/_Brand%20Assets/Fonts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work/DocSend/Marketing/Branding/_Brand%20Assets/Fonts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work/DocSend/Marketing/Branding/_Brand%20Assets/Fonts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work/DocSend/Marketing/Branding/_Brand%20Assets/Fonts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work/DocSend/Marketing/Branding/_Brand%20Assets/Fonts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work/DocSend/Marketing/Branding/_Brand%20Assets/Fonts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work/DocSend/Marketing/Branding/_Brand%20Assets/Fonts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jpeg"/><Relationship Id="rId5" Type="http://schemas.openxmlformats.org/officeDocument/2006/relationships/hyperlink" Target="https://en.wikipedia.org/wiki/File:Lean-StartUp-Cycle-EN.jpg" TargetMode="External"/><Relationship Id="rId4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work/DocSend/Marketing/Branding/_Brand%20Assets/Fonts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C8EB"/>
        </a:soli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3"/>
          <p:cNvSpPr txBox="1">
            <a:spLocks noGrp="1"/>
          </p:cNvSpPr>
          <p:nvPr>
            <p:ph type="title"/>
          </p:nvPr>
        </p:nvSpPr>
        <p:spPr>
          <a:xfrm>
            <a:off x="848506" y="912098"/>
            <a:ext cx="7329000" cy="3962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latin typeface="Helvetica Neue"/>
                <a:ea typeface="Helvetica Neue"/>
                <a:cs typeface="Helvetica Neue"/>
                <a:sym typeface="Helvetica Neue"/>
              </a:rPr>
              <a:t>SAYARITEE / MY VEHICLE / MI VEH</a:t>
            </a:r>
            <a:r>
              <a:rPr lang="en-GB" sz="2800" b="1" dirty="0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Í</a:t>
            </a:r>
            <a:r>
              <a:rPr lang="en" sz="2800" b="1" dirty="0">
                <a:latin typeface="Helvetica Neue"/>
                <a:ea typeface="Helvetica Neue"/>
                <a:cs typeface="Helvetica Neue"/>
                <a:sym typeface="Helvetica Neue"/>
              </a:rPr>
              <a:t>CULO</a:t>
            </a:r>
            <a:endParaRPr sz="2800" b="1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3" name="Google Shape;383;p63"/>
          <p:cNvSpPr txBox="1">
            <a:spLocks noGrp="1"/>
          </p:cNvSpPr>
          <p:nvPr>
            <p:ph type="subTitle" idx="1"/>
          </p:nvPr>
        </p:nvSpPr>
        <p:spPr>
          <a:xfrm>
            <a:off x="2383340" y="3776819"/>
            <a:ext cx="3527814" cy="22217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b="1" dirty="0"/>
              <a:t>          </a:t>
            </a:r>
            <a:r>
              <a:rPr lang="en" sz="1400" b="1" dirty="0"/>
              <a:t>First-ever App for Motorists in Qatar </a:t>
            </a:r>
            <a:endParaRPr sz="14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F61DEA-3102-456B-C5C2-0F0FC0134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850" y="2120009"/>
            <a:ext cx="687452" cy="8451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5B6F670-EE4C-341C-B371-510CD9FA0C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7576" y="2045298"/>
            <a:ext cx="918770" cy="9580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49C5A8-252C-6E9E-7F20-994D5413BE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341" y="1764321"/>
            <a:ext cx="1412785" cy="16100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6950A87-F282-68AF-3011-FE30FB04F7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6509" y="1765301"/>
            <a:ext cx="1939507" cy="112521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FFDB3D4-406E-556A-F9EC-B34BC09A26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2336179" y="1912655"/>
            <a:ext cx="2117833" cy="11252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6">
            <a:hlinkClick r:id="rId3"/>
          </p:cNvPr>
          <p:cNvSpPr txBox="1"/>
          <p:nvPr/>
        </p:nvSpPr>
        <p:spPr>
          <a:xfrm>
            <a:off x="447575" y="476250"/>
            <a:ext cx="40386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dirty="0">
                <a:solidFill>
                  <a:srgbClr val="666666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The story</a:t>
            </a:r>
            <a:endParaRPr sz="3400" dirty="0">
              <a:solidFill>
                <a:srgbClr val="666666"/>
              </a:solidFill>
              <a:latin typeface="Gothic A1 SemiBold"/>
              <a:ea typeface="Gothic A1 SemiBold"/>
              <a:cs typeface="Gothic A1 SemiBold"/>
              <a:sym typeface="Gothic A1 SemiBold"/>
            </a:endParaRPr>
          </a:p>
        </p:txBody>
      </p:sp>
      <p:sp>
        <p:nvSpPr>
          <p:cNvPr id="408" name="Google Shape;408;p66"/>
          <p:cNvSpPr txBox="1"/>
          <p:nvPr/>
        </p:nvSpPr>
        <p:spPr>
          <a:xfrm>
            <a:off x="488525" y="1100223"/>
            <a:ext cx="3597600" cy="1789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n-GB" sz="900" dirty="0">
                <a:solidFill>
                  <a:srgbClr val="201F1E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The idea came to Sultan, Founder &amp; CEO in 2021 when a large number of Qatari locals had complained to him: </a:t>
            </a:r>
            <a:r>
              <a:rPr lang="en-GB" sz="900" dirty="0">
                <a:solidFill>
                  <a:srgbClr val="201F1E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it had</a:t>
            </a:r>
            <a:r>
              <a:rPr lang="en-GB" sz="900" dirty="0">
                <a:solidFill>
                  <a:srgbClr val="201F1E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 always been hard to find someone to help them </a:t>
            </a:r>
            <a:r>
              <a:rPr lang="en-GB" sz="900" dirty="0">
                <a:solidFill>
                  <a:srgbClr val="201F1E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with</a:t>
            </a:r>
            <a:r>
              <a:rPr lang="en-GB" sz="900" dirty="0">
                <a:solidFill>
                  <a:srgbClr val="201F1E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 solutions to their chronic auto-related headaches and hassles due to the lack of an adequate mobile App.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GB" sz="900" dirty="0">
                <a:solidFill>
                  <a:srgbClr val="201F1E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The work started </a:t>
            </a:r>
            <a:r>
              <a:rPr lang="en-GB" sz="900" dirty="0">
                <a:solidFill>
                  <a:srgbClr val="201F1E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on the start-up - </a:t>
            </a:r>
            <a:r>
              <a:rPr lang="en-GB" sz="900" dirty="0">
                <a:solidFill>
                  <a:schemeClr val="tx1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meetings</a:t>
            </a:r>
            <a:r>
              <a:rPr lang="en-GB" sz="900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and agreements with motorists and a wide range of services suppliers, insurance companies, throughout the country - to learn about requirements and see all technical, commercial, and marketing implications,</a:t>
            </a:r>
            <a:r>
              <a:rPr lang="en-GB" sz="900" dirty="0">
                <a:solidFill>
                  <a:schemeClr val="tx1"/>
                </a:solidFill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that helped with the </a:t>
            </a:r>
            <a:r>
              <a:rPr lang="en-GB" sz="900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conceptualisation, design, development, test runs, implementation of the complete operation system, continuous  upgrades of the App - </a:t>
            </a:r>
            <a:r>
              <a:rPr lang="en-GB" sz="900" dirty="0">
                <a:solidFill>
                  <a:srgbClr val="201F1E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through full-scale funding all by the Founder &amp; CEO himself, up till today. </a:t>
            </a:r>
            <a:endParaRPr lang="en-GB" sz="9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GB" sz="900" dirty="0"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Google Shape;469;p72">
            <a:extLst>
              <a:ext uri="{FF2B5EF4-FFF2-40B4-BE49-F238E27FC236}">
                <a16:creationId xmlns:a16="http://schemas.microsoft.com/office/drawing/2014/main" id="{37E9BC9C-5D0C-89D0-8D0D-7356A8559753}"/>
              </a:ext>
            </a:extLst>
          </p:cNvPr>
          <p:cNvSpPr/>
          <p:nvPr/>
        </p:nvSpPr>
        <p:spPr>
          <a:xfrm>
            <a:off x="5291721" y="1020588"/>
            <a:ext cx="2519026" cy="3032269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6981" b="-6981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9501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72">
            <a:hlinkClick r:id="rId3"/>
          </p:cNvPr>
          <p:cNvSpPr txBox="1"/>
          <p:nvPr/>
        </p:nvSpPr>
        <p:spPr>
          <a:xfrm>
            <a:off x="447575" y="476250"/>
            <a:ext cx="40386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dirty="0">
                <a:solidFill>
                  <a:srgbClr val="FF0000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Traction 1</a:t>
            </a:r>
            <a:endParaRPr sz="3400" dirty="0">
              <a:solidFill>
                <a:srgbClr val="FF0000"/>
              </a:solidFill>
              <a:latin typeface="Gothic A1 SemiBold"/>
              <a:ea typeface="Gothic A1 SemiBold"/>
              <a:cs typeface="Gothic A1 SemiBold"/>
              <a:sym typeface="Gothic A1 SemiBold"/>
            </a:endParaRPr>
          </a:p>
        </p:txBody>
      </p:sp>
      <p:sp>
        <p:nvSpPr>
          <p:cNvPr id="468" name="Google Shape;468;p72"/>
          <p:cNvSpPr txBox="1"/>
          <p:nvPr/>
        </p:nvSpPr>
        <p:spPr>
          <a:xfrm>
            <a:off x="488524" y="1100223"/>
            <a:ext cx="3806205" cy="2551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800" dirty="0"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The App</a:t>
            </a:r>
            <a:r>
              <a:rPr lang="en-GB" sz="800" u="sng" dirty="0">
                <a:solidFill>
                  <a:schemeClr val="accent1">
                    <a:lumMod val="75000"/>
                  </a:schemeClr>
                </a:solidFill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 sayaritee</a:t>
            </a:r>
            <a:r>
              <a:rPr lang="en-GB" sz="800" u="sng" dirty="0">
                <a:solidFill>
                  <a:schemeClr val="accent1">
                    <a:lumMod val="75000"/>
                  </a:schemeClr>
                </a:solidFill>
                <a:effectLst/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.com</a:t>
            </a:r>
            <a:r>
              <a:rPr lang="en-GB" sz="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has been successfully tested repeatedly, is </a:t>
            </a:r>
            <a:r>
              <a:rPr lang="en-GB" sz="800" dirty="0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</a:rPr>
              <a:t>ready to take off and hit the ground running as we have got all the key components in place, </a:t>
            </a:r>
            <a:r>
              <a:rPr lang="en-GB" sz="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and it will be a huge hit when launched on the market.</a:t>
            </a: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endParaRPr lang="en-GB" sz="8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▪ </a:t>
            </a:r>
            <a:r>
              <a:rPr lang="en-GB" sz="800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1,000,000 cars and </a:t>
            </a:r>
            <a:r>
              <a:rPr lang="en-GB" sz="800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50,000 new vehicles in addition, every year</a:t>
            </a:r>
          </a:p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▪ </a:t>
            </a:r>
            <a:r>
              <a:rPr lang="en-GB" sz="800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QAR 6,000 is spent on a car annually</a:t>
            </a:r>
            <a:endParaRPr lang="en-GB" sz="800" dirty="0">
              <a:latin typeface="Barlow" panose="00000500000000000000" pitchFamily="2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8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▪ </a:t>
            </a:r>
            <a:r>
              <a:rPr lang="en-GB" sz="800" dirty="0"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First-ever </a:t>
            </a:r>
            <a:r>
              <a:rPr lang="en-GB" sz="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mobile App </a:t>
            </a:r>
            <a:r>
              <a:rPr lang="en-GB" sz="800" dirty="0"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n-GB" sz="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 connect motorists and automotive services providers</a:t>
            </a:r>
            <a:endParaRPr lang="en-GB" sz="800" dirty="0">
              <a:latin typeface="Barlow" panose="00000500000000000000" pitchFamily="2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800" dirty="0"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▪ </a:t>
            </a:r>
            <a:r>
              <a:rPr lang="en-GB" sz="800" b="1" dirty="0"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</a:t>
            </a:r>
            <a:r>
              <a:rPr lang="en-GB" sz="800" b="1" dirty="0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onthly </a:t>
            </a:r>
            <a:r>
              <a:rPr lang="en-GB" sz="800" b="1" dirty="0"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R</a:t>
            </a:r>
            <a:r>
              <a:rPr lang="en-GB" sz="800" b="1" dirty="0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ecurring </a:t>
            </a:r>
            <a:r>
              <a:rPr lang="en-GB" sz="800" b="1" dirty="0"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R</a:t>
            </a:r>
            <a:r>
              <a:rPr lang="en-GB" sz="800" b="1" dirty="0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evenue</a:t>
            </a:r>
            <a:r>
              <a:rPr lang="en-GB" sz="800" b="1" dirty="0"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GB" sz="800" dirty="0"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lang="en-GB" sz="800" dirty="0">
                <a:solidFill>
                  <a:srgbClr val="3C3F44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</a:rPr>
              <a:t>those seeking fund greater than $1 </a:t>
            </a:r>
            <a:r>
              <a:rPr lang="en-GB" sz="800" dirty="0" err="1">
                <a:solidFill>
                  <a:srgbClr val="3C3F44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</a:rPr>
              <a:t>mn</a:t>
            </a:r>
            <a:r>
              <a:rPr lang="en-GB" sz="800" dirty="0">
                <a:solidFill>
                  <a:srgbClr val="3C3F44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</a:rPr>
              <a:t> demonstrate at least $50,000 in MRR — and be on track to achieve $80,000 in MRR over the next 6 months. Those metrics should help start-ups command a $6 to $10 </a:t>
            </a:r>
            <a:r>
              <a:rPr lang="en-GB" sz="800" dirty="0" err="1">
                <a:solidFill>
                  <a:srgbClr val="3C3F44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</a:rPr>
              <a:t>mn</a:t>
            </a:r>
            <a:r>
              <a:rPr lang="en-GB" sz="800" dirty="0">
                <a:solidFill>
                  <a:srgbClr val="3C3F44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</a:rPr>
              <a:t> valuation) </a:t>
            </a:r>
            <a:endParaRPr lang="en-GB" sz="800" dirty="0">
              <a:solidFill>
                <a:srgbClr val="000000"/>
              </a:solidFill>
              <a:effectLst/>
              <a:latin typeface="Barlow" panose="00000500000000000000" pitchFamily="2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800" dirty="0"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▪ </a:t>
            </a:r>
            <a:r>
              <a:rPr lang="en-GB" sz="800" b="1" dirty="0"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Annual</a:t>
            </a:r>
            <a:r>
              <a:rPr lang="en-GB" sz="800" b="1" dirty="0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GB" sz="800" b="1" dirty="0"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R</a:t>
            </a:r>
            <a:r>
              <a:rPr lang="en-GB" sz="800" b="1" dirty="0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ecurring Revenue</a:t>
            </a:r>
          </a:p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800" dirty="0"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▪ </a:t>
            </a:r>
            <a:r>
              <a:rPr lang="en-GB" sz="800" b="1" dirty="0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Gross MRR Churn </a:t>
            </a:r>
            <a:r>
              <a:rPr lang="en-GB" sz="800" b="1" dirty="0"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R</a:t>
            </a:r>
            <a:r>
              <a:rPr lang="en-GB" sz="800" b="1" dirty="0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ate</a:t>
            </a:r>
            <a:r>
              <a:rPr lang="en-GB" sz="800" dirty="0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 (monthly recurring revenue lost in a given month/ monthly recurring revenue lost in at the beginning of the month)</a:t>
            </a: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800" dirty="0"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▪ </a:t>
            </a:r>
            <a:r>
              <a:rPr lang="en-GB" sz="800" b="1" dirty="0"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Paid CAC</a:t>
            </a:r>
            <a:r>
              <a:rPr lang="en-GB" sz="800" dirty="0"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, cost per customer acquired through paid marketing channels (total sales and marketing spend in given month / total customers acquired via paid channels and sales)</a:t>
            </a:r>
          </a:p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endParaRPr lang="en-GB" sz="800" dirty="0">
              <a:solidFill>
                <a:srgbClr val="000000"/>
              </a:solidFill>
              <a:effectLst/>
              <a:latin typeface="Barlow" panose="00000500000000000000" pitchFamily="2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800" b="1" dirty="0">
              <a:solidFill>
                <a:srgbClr val="999999"/>
              </a:solidFill>
              <a:latin typeface="Barlow" panose="00000500000000000000" pitchFamily="2" charset="0"/>
              <a:ea typeface="Gothic A1"/>
              <a:cs typeface="Gothic A1"/>
              <a:sym typeface="Gothic A1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 dirty="0">
              <a:solidFill>
                <a:srgbClr val="999999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</p:spTree>
    <p:extLst>
      <p:ext uri="{BB962C8B-B14F-4D97-AF65-F5344CB8AC3E}">
        <p14:creationId xmlns:p14="http://schemas.microsoft.com/office/powerpoint/2010/main" val="3279197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72">
            <a:hlinkClick r:id="rId3"/>
          </p:cNvPr>
          <p:cNvSpPr txBox="1"/>
          <p:nvPr/>
        </p:nvSpPr>
        <p:spPr>
          <a:xfrm>
            <a:off x="447575" y="476250"/>
            <a:ext cx="40386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dirty="0">
                <a:solidFill>
                  <a:srgbClr val="FF0000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Traction 1</a:t>
            </a:r>
            <a:endParaRPr sz="3400" dirty="0">
              <a:solidFill>
                <a:srgbClr val="FF0000"/>
              </a:solidFill>
              <a:latin typeface="Gothic A1 SemiBold"/>
              <a:ea typeface="Gothic A1 SemiBold"/>
              <a:cs typeface="Gothic A1 SemiBold"/>
              <a:sym typeface="Gothic A1 SemiBold"/>
            </a:endParaRPr>
          </a:p>
        </p:txBody>
      </p:sp>
      <p:sp>
        <p:nvSpPr>
          <p:cNvPr id="8" name="Google Shape;401;p65">
            <a:extLst>
              <a:ext uri="{FF2B5EF4-FFF2-40B4-BE49-F238E27FC236}">
                <a16:creationId xmlns:a16="http://schemas.microsoft.com/office/drawing/2014/main" id="{FBD22495-66DB-421A-93D2-E05C82F24ABE}"/>
              </a:ext>
            </a:extLst>
          </p:cNvPr>
          <p:cNvSpPr txBox="1"/>
          <p:nvPr/>
        </p:nvSpPr>
        <p:spPr>
          <a:xfrm>
            <a:off x="358246" y="4343400"/>
            <a:ext cx="483658" cy="4953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dirty="0">
              <a:solidFill>
                <a:srgbClr val="999999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B71E5E0-AC50-7B5B-94B0-3CA16E23E9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5552720"/>
              </p:ext>
            </p:extLst>
          </p:nvPr>
        </p:nvGraphicFramePr>
        <p:xfrm>
          <a:off x="1752403" y="1084082"/>
          <a:ext cx="6194392" cy="3583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579662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72">
            <a:hlinkClick r:id="rId3"/>
          </p:cNvPr>
          <p:cNvSpPr txBox="1"/>
          <p:nvPr/>
        </p:nvSpPr>
        <p:spPr>
          <a:xfrm>
            <a:off x="447575" y="476250"/>
            <a:ext cx="40386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dirty="0">
                <a:solidFill>
                  <a:srgbClr val="FF0000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Traction 1</a:t>
            </a:r>
            <a:endParaRPr sz="3400" dirty="0">
              <a:solidFill>
                <a:srgbClr val="FF0000"/>
              </a:solidFill>
              <a:latin typeface="Gothic A1 SemiBold"/>
              <a:ea typeface="Gothic A1 SemiBold"/>
              <a:cs typeface="Gothic A1 SemiBold"/>
              <a:sym typeface="Gothic A1 SemiBold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6F5B8D2-95B1-38BA-5B9A-7BEC83729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000937"/>
              </p:ext>
            </p:extLst>
          </p:nvPr>
        </p:nvGraphicFramePr>
        <p:xfrm>
          <a:off x="216817" y="1527142"/>
          <a:ext cx="8616031" cy="2012652"/>
        </p:xfrm>
        <a:graphic>
          <a:graphicData uri="http://schemas.openxmlformats.org/drawingml/2006/table">
            <a:tbl>
              <a:tblPr/>
              <a:tblGrid>
                <a:gridCol w="679147">
                  <a:extLst>
                    <a:ext uri="{9D8B030D-6E8A-4147-A177-3AD203B41FA5}">
                      <a16:colId xmlns:a16="http://schemas.microsoft.com/office/drawing/2014/main" val="2469396121"/>
                    </a:ext>
                  </a:extLst>
                </a:gridCol>
                <a:gridCol w="661407">
                  <a:extLst>
                    <a:ext uri="{9D8B030D-6E8A-4147-A177-3AD203B41FA5}">
                      <a16:colId xmlns:a16="http://schemas.microsoft.com/office/drawing/2014/main" val="23180297"/>
                    </a:ext>
                  </a:extLst>
                </a:gridCol>
                <a:gridCol w="661407">
                  <a:extLst>
                    <a:ext uri="{9D8B030D-6E8A-4147-A177-3AD203B41FA5}">
                      <a16:colId xmlns:a16="http://schemas.microsoft.com/office/drawing/2014/main" val="160149214"/>
                    </a:ext>
                  </a:extLst>
                </a:gridCol>
                <a:gridCol w="661407">
                  <a:extLst>
                    <a:ext uri="{9D8B030D-6E8A-4147-A177-3AD203B41FA5}">
                      <a16:colId xmlns:a16="http://schemas.microsoft.com/office/drawing/2014/main" val="669033591"/>
                    </a:ext>
                  </a:extLst>
                </a:gridCol>
                <a:gridCol w="661407">
                  <a:extLst>
                    <a:ext uri="{9D8B030D-6E8A-4147-A177-3AD203B41FA5}">
                      <a16:colId xmlns:a16="http://schemas.microsoft.com/office/drawing/2014/main" val="863446707"/>
                    </a:ext>
                  </a:extLst>
                </a:gridCol>
                <a:gridCol w="661407">
                  <a:extLst>
                    <a:ext uri="{9D8B030D-6E8A-4147-A177-3AD203B41FA5}">
                      <a16:colId xmlns:a16="http://schemas.microsoft.com/office/drawing/2014/main" val="2351873592"/>
                    </a:ext>
                  </a:extLst>
                </a:gridCol>
                <a:gridCol w="661407">
                  <a:extLst>
                    <a:ext uri="{9D8B030D-6E8A-4147-A177-3AD203B41FA5}">
                      <a16:colId xmlns:a16="http://schemas.microsoft.com/office/drawing/2014/main" val="1762083923"/>
                    </a:ext>
                  </a:extLst>
                </a:gridCol>
                <a:gridCol w="661407">
                  <a:extLst>
                    <a:ext uri="{9D8B030D-6E8A-4147-A177-3AD203B41FA5}">
                      <a16:colId xmlns:a16="http://schemas.microsoft.com/office/drawing/2014/main" val="441417155"/>
                    </a:ext>
                  </a:extLst>
                </a:gridCol>
                <a:gridCol w="661407">
                  <a:extLst>
                    <a:ext uri="{9D8B030D-6E8A-4147-A177-3AD203B41FA5}">
                      <a16:colId xmlns:a16="http://schemas.microsoft.com/office/drawing/2014/main" val="991402340"/>
                    </a:ext>
                  </a:extLst>
                </a:gridCol>
                <a:gridCol w="661407">
                  <a:extLst>
                    <a:ext uri="{9D8B030D-6E8A-4147-A177-3AD203B41FA5}">
                      <a16:colId xmlns:a16="http://schemas.microsoft.com/office/drawing/2014/main" val="3827103917"/>
                    </a:ext>
                  </a:extLst>
                </a:gridCol>
                <a:gridCol w="661407">
                  <a:extLst>
                    <a:ext uri="{9D8B030D-6E8A-4147-A177-3AD203B41FA5}">
                      <a16:colId xmlns:a16="http://schemas.microsoft.com/office/drawing/2014/main" val="3171241995"/>
                    </a:ext>
                  </a:extLst>
                </a:gridCol>
                <a:gridCol w="661407">
                  <a:extLst>
                    <a:ext uri="{9D8B030D-6E8A-4147-A177-3AD203B41FA5}">
                      <a16:colId xmlns:a16="http://schemas.microsoft.com/office/drawing/2014/main" val="2553649816"/>
                    </a:ext>
                  </a:extLst>
                </a:gridCol>
                <a:gridCol w="661407">
                  <a:extLst>
                    <a:ext uri="{9D8B030D-6E8A-4147-A177-3AD203B41FA5}">
                      <a16:colId xmlns:a16="http://schemas.microsoft.com/office/drawing/2014/main" val="2174401589"/>
                    </a:ext>
                  </a:extLst>
                </a:gridCol>
              </a:tblGrid>
              <a:tr h="22362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Break out </a:t>
                      </a:r>
                    </a:p>
                  </a:txBody>
                  <a:tcPr marL="7546" marR="7546" marT="7546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jan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feb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mar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apr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jun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jul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aug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sept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oct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nov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dec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634100"/>
                  </a:ext>
                </a:extLst>
              </a:tr>
              <a:tr h="22362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New</a:t>
                      </a:r>
                    </a:p>
                  </a:txBody>
                  <a:tcPr marL="7546" marR="7546" marT="7546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187500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225000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194400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434678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246453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275170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276889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354298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292099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401845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340526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398571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286413"/>
                  </a:ext>
                </a:extLst>
              </a:tr>
              <a:tr h="22362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Expansion</a:t>
                      </a:r>
                    </a:p>
                  </a:txBody>
                  <a:tcPr marL="7546" marR="7546" marT="7546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232500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279000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233280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161741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321460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206377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192619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223077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417284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312546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356005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350742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444672"/>
                  </a:ext>
                </a:extLst>
              </a:tr>
              <a:tr h="22362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Reactivation</a:t>
                      </a:r>
                    </a:p>
                  </a:txBody>
                  <a:tcPr marL="7546" marR="7546" marT="7546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150000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180000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136080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141523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225022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298100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288928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262443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208642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267897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247656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286971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725083"/>
                  </a:ext>
                </a:extLst>
              </a:tr>
              <a:tr h="22362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Contraction</a:t>
                      </a:r>
                    </a:p>
                  </a:txBody>
                  <a:tcPr marL="7546" marR="7546" marT="7546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45000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54000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29160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60653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107153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103189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96309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91855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69547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89299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123828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111600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438993"/>
                  </a:ext>
                </a:extLst>
              </a:tr>
              <a:tr h="22362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Churn</a:t>
                      </a:r>
                    </a:p>
                  </a:txBody>
                  <a:tcPr marL="7546" marR="7546" marT="7546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75000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90000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48600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70762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53577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68792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60193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52489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83457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74416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108349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79714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406115"/>
                  </a:ext>
                </a:extLst>
              </a:tr>
              <a:tr h="223628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Change</a:t>
                      </a:r>
                    </a:p>
                  </a:txBody>
                  <a:tcPr marL="7546" marR="7546" marT="7546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60000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72000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223560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141523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117869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194912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288928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328054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319918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342312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371483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366685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885982"/>
                  </a:ext>
                </a:extLst>
              </a:tr>
              <a:tr h="223628">
                <a:tc>
                  <a:txBody>
                    <a:bodyPr/>
                    <a:lstStyle/>
                    <a:p>
                      <a:pPr algn="l" fontAlgn="b"/>
                      <a:endParaRPr lang="en-Q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46" marR="7546" marT="7546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750000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900000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972000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1010880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1071533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1146540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1203867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1312215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1390948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1488314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1547847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QA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1594282</a:t>
                      </a: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330653"/>
                  </a:ext>
                </a:extLst>
              </a:tr>
              <a:tr h="223628">
                <a:tc>
                  <a:txBody>
                    <a:bodyPr/>
                    <a:lstStyle/>
                    <a:p>
                      <a:pPr algn="l" fontAlgn="b"/>
                      <a:endParaRPr lang="en-Q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46" marR="7546" marT="7546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Q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Q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Q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Q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Q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Q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Q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Q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Q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Q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QA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QA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46" marR="7546" marT="7546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44893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7800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72">
            <a:hlinkClick r:id="rId3"/>
          </p:cNvPr>
          <p:cNvSpPr txBox="1"/>
          <p:nvPr/>
        </p:nvSpPr>
        <p:spPr>
          <a:xfrm>
            <a:off x="447575" y="476250"/>
            <a:ext cx="40386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dirty="0">
                <a:solidFill>
                  <a:srgbClr val="FF0000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Traction 1</a:t>
            </a:r>
            <a:endParaRPr sz="3400" dirty="0">
              <a:solidFill>
                <a:srgbClr val="FF0000"/>
              </a:solidFill>
              <a:latin typeface="Gothic A1 SemiBold"/>
              <a:ea typeface="Gothic A1 SemiBold"/>
              <a:cs typeface="Gothic A1 SemiBold"/>
              <a:sym typeface="Gothic A1 SemiBold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9CE9AC3-ABFE-63A1-DC4D-9CB7C95714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8471740"/>
              </p:ext>
            </p:extLst>
          </p:nvPr>
        </p:nvGraphicFramePr>
        <p:xfrm>
          <a:off x="1652931" y="971550"/>
          <a:ext cx="6686549" cy="3781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145434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5">
            <a:hlinkClick r:id="rId3"/>
          </p:cNvPr>
          <p:cNvSpPr txBox="1"/>
          <p:nvPr/>
        </p:nvSpPr>
        <p:spPr>
          <a:xfrm>
            <a:off x="447575" y="476250"/>
            <a:ext cx="40386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dirty="0">
                <a:solidFill>
                  <a:schemeClr val="tx1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The Now</a:t>
            </a:r>
            <a:endParaRPr sz="3400" dirty="0">
              <a:solidFill>
                <a:schemeClr val="tx1"/>
              </a:solidFill>
              <a:latin typeface="Gothic A1 SemiBold"/>
              <a:ea typeface="Gothic A1 SemiBold"/>
              <a:cs typeface="Gothic A1 SemiBold"/>
              <a:sym typeface="Gothic A1 SemiBold"/>
            </a:endParaRPr>
          </a:p>
        </p:txBody>
      </p:sp>
      <p:sp>
        <p:nvSpPr>
          <p:cNvPr id="398" name="Google Shape;398;p65"/>
          <p:cNvSpPr txBox="1"/>
          <p:nvPr/>
        </p:nvSpPr>
        <p:spPr>
          <a:xfrm>
            <a:off x="488525" y="1100221"/>
            <a:ext cx="3597600" cy="1890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GB" sz="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▪ </a:t>
            </a:r>
            <a:r>
              <a:rPr lang="en-GB" sz="900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Cars used day and night                                                                                                         </a:t>
            </a:r>
            <a:r>
              <a:rPr lang="en-GB" sz="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▪ </a:t>
            </a:r>
            <a:r>
              <a:rPr lang="en-GB" sz="900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Breakdowns</a:t>
            </a:r>
            <a:r>
              <a:rPr lang="en-GB" sz="900" dirty="0"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                                                                                                                                  </a:t>
            </a:r>
            <a:r>
              <a:rPr lang="en-GB" sz="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▪ </a:t>
            </a:r>
            <a:r>
              <a:rPr lang="en-GB" sz="900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Accidents                                                                                                                                       </a:t>
            </a:r>
            <a:r>
              <a:rPr lang="en-GB" sz="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▪ </a:t>
            </a:r>
            <a:r>
              <a:rPr lang="en-GB" sz="900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Maintenance                                                                                                                                 </a:t>
            </a:r>
            <a:r>
              <a:rPr lang="en-GB" sz="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▪ </a:t>
            </a:r>
            <a:r>
              <a:rPr lang="en-GB" sz="900" dirty="0"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Insurance                                                                                                                                       </a:t>
            </a:r>
            <a:r>
              <a:rPr lang="en-GB" sz="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▪</a:t>
            </a:r>
            <a:r>
              <a:rPr lang="en-GB" sz="900" dirty="0"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 Bureaucracy                                                                                                                                  </a:t>
            </a:r>
            <a:r>
              <a:rPr lang="en-GB" sz="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▪ </a:t>
            </a:r>
            <a:r>
              <a:rPr lang="en-GB" sz="900" dirty="0"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Carwash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en-GB" sz="900" dirty="0"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▪ </a:t>
            </a:r>
            <a:r>
              <a:rPr lang="en-GB" sz="900" dirty="0"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Services providers are difficult to find                                                                           </a:t>
            </a:r>
            <a:r>
              <a:rPr lang="en-GB" sz="900" dirty="0"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▪ 4</a:t>
            </a:r>
            <a:r>
              <a:rPr lang="en-GB" sz="900" dirty="0"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 cars in each Qatari local family, on average                                                                        </a:t>
            </a:r>
            <a:r>
              <a:rPr lang="en-GB" sz="900" dirty="0"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▪ </a:t>
            </a:r>
            <a:r>
              <a:rPr lang="en-GB" sz="900" dirty="0"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NO HELP 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GB" sz="900" dirty="0"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▪ </a:t>
            </a:r>
            <a:r>
              <a:rPr lang="en-GB" sz="900" dirty="0"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NO APP to click on and arrange ALL services via mobile, at once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n-GB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n-GB" sz="9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E3878D4-3BCF-DF23-C9C2-784FE1A4A2DC}"/>
              </a:ext>
            </a:extLst>
          </p:cNvPr>
          <p:cNvSpPr/>
          <p:nvPr/>
        </p:nvSpPr>
        <p:spPr>
          <a:xfrm>
            <a:off x="4158203" y="605870"/>
            <a:ext cx="2911900" cy="2911900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4962" r="-24962"/>
            </a:stretch>
          </a:blipFill>
          <a:ln>
            <a:noFill/>
          </a:ln>
          <a:effectLst>
            <a:outerShdw blurRad="76200" dist="76200" dir="8160000" algn="ctr" rotWithShape="0">
              <a:srgbClr val="000000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95FF41E-AD88-91C6-E9AD-48EDBC1D0CCC}"/>
              </a:ext>
            </a:extLst>
          </p:cNvPr>
          <p:cNvSpPr/>
          <p:nvPr/>
        </p:nvSpPr>
        <p:spPr>
          <a:xfrm>
            <a:off x="6442733" y="936004"/>
            <a:ext cx="1929941" cy="1929941"/>
          </a:xfrm>
          <a:prstGeom prst="ellipse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40393" t="-2064" r="-44793" b="-2057"/>
            </a:stretch>
          </a:blipFill>
          <a:ln>
            <a:noFill/>
          </a:ln>
          <a:effectLst>
            <a:outerShdw blurRad="50800" dist="38100" dir="10740000" algn="ctr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6F61290-F7F6-250B-7055-B4C0E246917B}"/>
              </a:ext>
            </a:extLst>
          </p:cNvPr>
          <p:cNvSpPr/>
          <p:nvPr/>
        </p:nvSpPr>
        <p:spPr>
          <a:xfrm>
            <a:off x="6778953" y="2472770"/>
            <a:ext cx="1777540" cy="1777540"/>
          </a:xfrm>
          <a:prstGeom prst="ellipse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6024" r="-40834" b="-4470"/>
            </a:stretch>
          </a:blipFill>
          <a:ln>
            <a:noFill/>
          </a:ln>
          <a:effectLst>
            <a:outerShdw blurRad="50800" dist="38100" dir="1158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6">
            <a:hlinkClick r:id="rId3"/>
          </p:cNvPr>
          <p:cNvSpPr txBox="1"/>
          <p:nvPr/>
        </p:nvSpPr>
        <p:spPr>
          <a:xfrm>
            <a:off x="447575" y="476250"/>
            <a:ext cx="40386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dirty="0">
                <a:solidFill>
                  <a:srgbClr val="666666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Problem</a:t>
            </a:r>
            <a:endParaRPr sz="3400" dirty="0">
              <a:solidFill>
                <a:srgbClr val="666666"/>
              </a:solidFill>
              <a:latin typeface="Gothic A1 SemiBold"/>
              <a:ea typeface="Gothic A1 SemiBold"/>
              <a:cs typeface="Gothic A1 SemiBold"/>
              <a:sym typeface="Gothic A1 SemiBold"/>
            </a:endParaRPr>
          </a:p>
        </p:txBody>
      </p:sp>
      <p:sp>
        <p:nvSpPr>
          <p:cNvPr id="408" name="Google Shape;408;p66"/>
          <p:cNvSpPr txBox="1"/>
          <p:nvPr/>
        </p:nvSpPr>
        <p:spPr>
          <a:xfrm>
            <a:off x="488525" y="1100225"/>
            <a:ext cx="3597600" cy="781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GB" sz="900" dirty="0"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There’s NO single-window mobile App for motorists </a:t>
            </a:r>
            <a:r>
              <a:rPr lang="en-GB" sz="900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that helps them arrange all </a:t>
            </a:r>
            <a:r>
              <a:rPr lang="en-GB" sz="900" dirty="0"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thei</a:t>
            </a:r>
            <a:r>
              <a:rPr lang="en-GB" sz="900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r automotive requirements.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n-GB" sz="900" dirty="0"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Simultaneously</a:t>
            </a:r>
            <a:r>
              <a:rPr lang="en-GB" sz="9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, auto industry services providers’ capability to create value for their market is inhibited by their absence from the digital space.  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GB" sz="900" dirty="0"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D8CC20-2E3A-285D-2920-3F9094C212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6934" y="852049"/>
            <a:ext cx="2264046" cy="15093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708B06-745D-126E-78C7-6203418841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6934" y="2314703"/>
            <a:ext cx="2276347" cy="22763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7">
            <a:hlinkClick r:id="rId3"/>
          </p:cNvPr>
          <p:cNvSpPr txBox="1"/>
          <p:nvPr/>
        </p:nvSpPr>
        <p:spPr>
          <a:xfrm>
            <a:off x="447575" y="476250"/>
            <a:ext cx="40386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dirty="0">
                <a:solidFill>
                  <a:schemeClr val="bg2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Solution</a:t>
            </a:r>
            <a:endParaRPr sz="3400" dirty="0">
              <a:solidFill>
                <a:schemeClr val="bg2"/>
              </a:solidFill>
              <a:latin typeface="Gothic A1 SemiBold"/>
              <a:ea typeface="Gothic A1 SemiBold"/>
              <a:cs typeface="Gothic A1 SemiBold"/>
              <a:sym typeface="Gothic A1 SemiBold"/>
            </a:endParaRPr>
          </a:p>
        </p:txBody>
      </p:sp>
      <p:sp>
        <p:nvSpPr>
          <p:cNvPr id="418" name="Google Shape;418;p67"/>
          <p:cNvSpPr txBox="1"/>
          <p:nvPr/>
        </p:nvSpPr>
        <p:spPr>
          <a:xfrm>
            <a:off x="488525" y="1100223"/>
            <a:ext cx="3597600" cy="170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5000"/>
              </a:lnSpc>
              <a:buSzPts val="1100"/>
            </a:pPr>
            <a:r>
              <a:rPr lang="en-GB" sz="800" u="sng" dirty="0">
                <a:solidFill>
                  <a:schemeClr val="accent1">
                    <a:lumMod val="75000"/>
                  </a:schemeClr>
                </a:solidFill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sayaritee</a:t>
            </a:r>
            <a:r>
              <a:rPr lang="en-GB" sz="800" u="sng" dirty="0">
                <a:solidFill>
                  <a:schemeClr val="accent1">
                    <a:lumMod val="75000"/>
                  </a:schemeClr>
                </a:solidFill>
                <a:effectLst/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.com</a:t>
            </a:r>
            <a:r>
              <a:rPr lang="en-GB" sz="800" dirty="0">
                <a:solidFill>
                  <a:schemeClr val="accent1">
                    <a:lumMod val="75000"/>
                  </a:schemeClr>
                </a:solidFill>
                <a:effectLst/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800" dirty="0"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is </a:t>
            </a:r>
            <a:r>
              <a:rPr lang="en-GB" sz="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GB" sz="800" dirty="0"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first-ever </a:t>
            </a:r>
            <a:r>
              <a:rPr lang="en-GB" sz="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App </a:t>
            </a:r>
            <a:r>
              <a:rPr lang="en-GB" sz="800" dirty="0"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lang="en-GB" sz="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 connects motorists and</a:t>
            </a:r>
            <a:r>
              <a:rPr lang="en-GB" sz="800" dirty="0"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 leading </a:t>
            </a:r>
            <a:r>
              <a:rPr lang="en-GB" sz="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auto-industry services providers </a:t>
            </a:r>
            <a:r>
              <a:rPr lang="en-GB" sz="800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for real-time user connections – supported by 24/7 LIVE customer service.</a:t>
            </a: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buSzPts val="1100"/>
            </a:pPr>
            <a:endParaRPr lang="en-GB" sz="800" u="sng" dirty="0">
              <a:solidFill>
                <a:schemeClr val="accent1">
                  <a:lumMod val="75000"/>
                </a:schemeClr>
              </a:solidFill>
              <a:latin typeface="Barlow" panose="00000500000000000000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800" dirty="0"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GB" sz="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or motorists - f</a:t>
            </a:r>
            <a:r>
              <a:rPr lang="en-GB" sz="800" dirty="0"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ree membership and access</a:t>
            </a:r>
            <a:r>
              <a:rPr lang="en-GB" sz="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GB" sz="800" dirty="0"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It</a:t>
            </a:r>
            <a:r>
              <a:rPr lang="en-GB" sz="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removes the chronic hassles and headaches associated with </a:t>
            </a:r>
            <a:r>
              <a:rPr lang="en-GB" sz="800" dirty="0"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mobility</a:t>
            </a:r>
            <a:r>
              <a:rPr lang="en-GB" sz="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, leaving motorists free to </a:t>
            </a:r>
            <a:r>
              <a:rPr lang="en-GB" sz="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enjoy careless driving only</a:t>
            </a:r>
            <a:r>
              <a:rPr lang="en-GB" sz="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GB" sz="800" dirty="0"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800" dirty="0"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GB" sz="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ubscription- and commission-based </a:t>
            </a:r>
            <a:r>
              <a:rPr lang="en-GB" sz="800" dirty="0"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membership for </a:t>
            </a:r>
            <a:r>
              <a:rPr lang="en-GB" sz="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services providers - </a:t>
            </a:r>
            <a:r>
              <a:rPr lang="en-GB" sz="800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garages, spare parts, insurance companies, roadside recovery, car wash -</a:t>
            </a:r>
            <a:r>
              <a:rPr lang="en-GB" sz="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dirty="0"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that</a:t>
            </a:r>
            <a:r>
              <a:rPr lang="en-GB" sz="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dirty="0">
                <a:effectLst/>
                <a:latin typeface="Barlow" panose="00000500000000000000" pitchFamily="2" charset="0"/>
                <a:ea typeface="Calibri" panose="020F0502020204030204" pitchFamily="34" charset="0"/>
              </a:rPr>
              <a:t>offers them a complete new ecosystem</a:t>
            </a:r>
            <a:r>
              <a:rPr lang="en-GB" sz="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GB" sz="800" dirty="0">
                <a:effectLst/>
                <a:latin typeface="Barlow" panose="00000500000000000000" pitchFamily="2" charset="0"/>
                <a:ea typeface="Calibri" panose="020F0502020204030204" pitchFamily="34" charset="0"/>
              </a:rPr>
              <a:t>connection into one unified network that covers the entire country.</a:t>
            </a:r>
          </a:p>
          <a:p>
            <a:pPr>
              <a:lnSpc>
                <a:spcPct val="115000"/>
              </a:lnSpc>
              <a:buSzPts val="1100"/>
            </a:pPr>
            <a:endParaRPr lang="en-GB" sz="800" u="sng" dirty="0">
              <a:solidFill>
                <a:schemeClr val="accent1">
                  <a:lumMod val="75000"/>
                </a:schemeClr>
              </a:solidFill>
              <a:latin typeface="Barlow" panose="00000500000000000000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GB" sz="800" dirty="0"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GB" sz="800" dirty="0"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dirty="0">
              <a:solidFill>
                <a:srgbClr val="999999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496614-8543-430D-4718-D4E41FEAAC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7877" y="688746"/>
            <a:ext cx="2887509" cy="31638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68">
            <a:hlinkClick r:id="rId3"/>
          </p:cNvPr>
          <p:cNvSpPr txBox="1"/>
          <p:nvPr/>
        </p:nvSpPr>
        <p:spPr>
          <a:xfrm>
            <a:off x="447575" y="476250"/>
            <a:ext cx="40386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chemeClr val="bg2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M</a:t>
            </a:r>
            <a:r>
              <a:rPr lang="en" sz="3200" dirty="0">
                <a:solidFill>
                  <a:srgbClr val="666666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arket Size</a:t>
            </a:r>
            <a:endParaRPr sz="3200" dirty="0">
              <a:solidFill>
                <a:srgbClr val="666666"/>
              </a:solidFill>
              <a:latin typeface="Gothic A1 SemiBold"/>
              <a:ea typeface="Gothic A1 SemiBold"/>
              <a:cs typeface="Gothic A1 SemiBold"/>
              <a:sym typeface="Gothic A1 SemiBold"/>
            </a:endParaRPr>
          </a:p>
        </p:txBody>
      </p:sp>
      <p:sp>
        <p:nvSpPr>
          <p:cNvPr id="428" name="Google Shape;428;p68"/>
          <p:cNvSpPr txBox="1"/>
          <p:nvPr/>
        </p:nvSpPr>
        <p:spPr>
          <a:xfrm>
            <a:off x="488525" y="1100222"/>
            <a:ext cx="3597600" cy="2322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5000"/>
              </a:lnSpc>
              <a:buSzPts val="1100"/>
            </a:pPr>
            <a:r>
              <a:rPr lang="en-GB" sz="1000" b="1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INITIAL SERVICE AREA</a:t>
            </a:r>
          </a:p>
          <a:p>
            <a:pPr>
              <a:lnSpc>
                <a:spcPct val="115000"/>
              </a:lnSpc>
              <a:buSzPts val="1100"/>
            </a:pPr>
            <a:endParaRPr lang="en-GB" sz="1000" dirty="0">
              <a:latin typeface="Barlow" panose="00000500000000000000" pitchFamily="2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buSzPts val="1100"/>
            </a:pPr>
            <a:r>
              <a:rPr lang="en-GB" sz="1000" dirty="0">
                <a:solidFill>
                  <a:srgbClr val="201F1E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In terms of coverage of the App, Qatar currently leads as the market with tremendous demands</a:t>
            </a:r>
            <a:r>
              <a:rPr lang="en-GB" sz="1000" dirty="0">
                <a:solidFill>
                  <a:srgbClr val="201F1E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</a:p>
          <a:p>
            <a:pPr>
              <a:lnSpc>
                <a:spcPct val="115000"/>
              </a:lnSpc>
              <a:buSzPts val="1100"/>
            </a:pPr>
            <a:endParaRPr lang="en-GB" sz="1000" dirty="0">
              <a:solidFill>
                <a:srgbClr val="201F1E"/>
              </a:solidFill>
              <a:effectLst/>
              <a:latin typeface="Barlow" panose="00000500000000000000" pitchFamily="2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buSzPts val="1100"/>
            </a:pPr>
            <a:r>
              <a:rPr lang="en-GB" sz="1000" dirty="0">
                <a:solidFill>
                  <a:srgbClr val="201F1E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It will</a:t>
            </a:r>
            <a:r>
              <a:rPr lang="en-GB" sz="1000" dirty="0">
                <a:solidFill>
                  <a:srgbClr val="201F1E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 be followed by Middle East, Central America (SICA), US, Europe </a:t>
            </a:r>
            <a:r>
              <a:rPr lang="en-GB" sz="1000" dirty="0">
                <a:solidFill>
                  <a:srgbClr val="201F1E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in</a:t>
            </a:r>
            <a:r>
              <a:rPr lang="en-GB" sz="1000" dirty="0">
                <a:solidFill>
                  <a:srgbClr val="201F1E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GB" sz="1000" dirty="0">
                <a:solidFill>
                  <a:srgbClr val="201F1E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the next 18-24 months</a:t>
            </a:r>
            <a:r>
              <a:rPr lang="en-GB" sz="1000" dirty="0">
                <a:solidFill>
                  <a:srgbClr val="201F1E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endParaRPr lang="en-GB" sz="10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SzPts val="1100"/>
            </a:pPr>
            <a:endParaRPr lang="en-GB" sz="1000" dirty="0">
              <a:effectLst/>
              <a:latin typeface="Barlow" panose="00000500000000000000" pitchFamily="2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buSzPts val="1100"/>
            </a:pPr>
            <a:r>
              <a:rPr lang="en-GB" sz="1000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Qatari local motorists own </a:t>
            </a:r>
            <a:r>
              <a:rPr lang="en-GB" sz="1000" b="1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1,000,000 cars</a:t>
            </a:r>
            <a:r>
              <a:rPr lang="en-GB" sz="1000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, and buy 50,000 new cars every year.</a:t>
            </a:r>
          </a:p>
          <a:p>
            <a:pPr>
              <a:lnSpc>
                <a:spcPct val="115000"/>
              </a:lnSpc>
              <a:buSzPts val="1100"/>
            </a:pPr>
            <a:endParaRPr lang="en-GB" sz="1000" dirty="0">
              <a:solidFill>
                <a:schemeClr val="tx1"/>
              </a:solidFill>
              <a:effectLst/>
              <a:latin typeface="Barlow" panose="00000500000000000000" pitchFamily="2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buSzPts val="1100"/>
            </a:pPr>
            <a:r>
              <a:rPr lang="en-GB" sz="1000" dirty="0">
                <a:solidFill>
                  <a:schemeClr val="tx1"/>
                </a:solidFill>
                <a:latin typeface="Barlow" panose="00000500000000000000" pitchFamily="2" charset="0"/>
                <a:ea typeface="Gothic A1"/>
                <a:cs typeface="Gothic A1"/>
                <a:sym typeface="Gothic A1"/>
              </a:rPr>
              <a:t>The Expansion Plan is to include </a:t>
            </a:r>
            <a:r>
              <a:rPr lang="en-GB" sz="1000" b="1" dirty="0">
                <a:solidFill>
                  <a:schemeClr val="tx1"/>
                </a:solidFill>
                <a:latin typeface="Barlow" panose="00000500000000000000" pitchFamily="2" charset="0"/>
                <a:ea typeface="Gothic A1"/>
                <a:cs typeface="Calibri" panose="020F0502020204030204" pitchFamily="34" charset="0"/>
                <a:sym typeface="Gothic A1"/>
              </a:rPr>
              <a:t>8</a:t>
            </a:r>
            <a:r>
              <a:rPr lang="en-GB" sz="1000" b="1" dirty="0"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00,000</a:t>
            </a:r>
            <a:r>
              <a:rPr lang="en-GB" sz="1000" b="1" dirty="0">
                <a:solidFill>
                  <a:schemeClr val="tx1"/>
                </a:solidFill>
                <a:latin typeface="Barlow" panose="00000500000000000000" pitchFamily="2" charset="0"/>
                <a:ea typeface="Gothic A1"/>
                <a:cs typeface="Gothic A1"/>
                <a:sym typeface="Gothic A1"/>
              </a:rPr>
              <a:t> expat </a:t>
            </a:r>
            <a:r>
              <a:rPr lang="en-GB" sz="1000" dirty="0">
                <a:solidFill>
                  <a:schemeClr val="tx1"/>
                </a:solidFill>
                <a:latin typeface="Barlow" panose="00000500000000000000" pitchFamily="2" charset="0"/>
                <a:ea typeface="Gothic A1"/>
                <a:cs typeface="Gothic A1"/>
                <a:sym typeface="Gothic A1"/>
              </a:rPr>
              <a:t>motorists in Qatar by 2023,</a:t>
            </a:r>
            <a:r>
              <a:rPr lang="en-GB" sz="1000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TFS will market the products on a massive scale. </a:t>
            </a:r>
          </a:p>
          <a:p>
            <a:pPr>
              <a:lnSpc>
                <a:spcPct val="115000"/>
              </a:lnSpc>
              <a:buSzPts val="1100"/>
            </a:pPr>
            <a:endParaRPr lang="en-GB" sz="1000" dirty="0">
              <a:solidFill>
                <a:schemeClr val="tx1"/>
              </a:solidFill>
              <a:latin typeface="Barlow" panose="00000500000000000000" pitchFamily="2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GB" sz="1000" dirty="0">
              <a:solidFill>
                <a:schemeClr val="accent2">
                  <a:lumMod val="75000"/>
                  <a:lumOff val="25000"/>
                </a:schemeClr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>
              <a:lnSpc>
                <a:spcPct val="115000"/>
              </a:lnSpc>
              <a:buSzPts val="1100"/>
            </a:pPr>
            <a:endParaRPr lang="en-GB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dirty="0">
              <a:solidFill>
                <a:schemeClr val="accent2">
                  <a:lumMod val="75000"/>
                  <a:lumOff val="25000"/>
                </a:schemeClr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2132D3-5FC0-EB16-0BC5-E1DFC7F6E4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2183" y="257274"/>
            <a:ext cx="8144758" cy="45814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68">
            <a:hlinkClick r:id="rId3"/>
          </p:cNvPr>
          <p:cNvSpPr txBox="1"/>
          <p:nvPr/>
        </p:nvSpPr>
        <p:spPr>
          <a:xfrm>
            <a:off x="447575" y="476250"/>
            <a:ext cx="40386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dirty="0">
                <a:solidFill>
                  <a:schemeClr val="bg2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Ma</a:t>
            </a:r>
            <a:r>
              <a:rPr lang="en" sz="3400" dirty="0">
                <a:solidFill>
                  <a:srgbClr val="666666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rket Size</a:t>
            </a:r>
            <a:endParaRPr sz="3400" dirty="0">
              <a:solidFill>
                <a:srgbClr val="666666"/>
              </a:solidFill>
              <a:latin typeface="Gothic A1 SemiBold"/>
              <a:ea typeface="Gothic A1 SemiBold"/>
              <a:cs typeface="Gothic A1 SemiBold"/>
              <a:sym typeface="Gothic A1 SemiBold"/>
            </a:endParaRPr>
          </a:p>
        </p:txBody>
      </p:sp>
      <p:sp>
        <p:nvSpPr>
          <p:cNvPr id="428" name="Google Shape;428;p68"/>
          <p:cNvSpPr txBox="1"/>
          <p:nvPr/>
        </p:nvSpPr>
        <p:spPr>
          <a:xfrm>
            <a:off x="450524" y="1114965"/>
            <a:ext cx="3842075" cy="241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5000"/>
              </a:lnSpc>
              <a:buSzPts val="1100"/>
            </a:pPr>
            <a:r>
              <a:rPr lang="en-GB" sz="900" b="1" dirty="0">
                <a:solidFill>
                  <a:schemeClr val="tx1"/>
                </a:solidFill>
                <a:latin typeface="Barlow" panose="00000500000000000000" pitchFamily="2" charset="0"/>
                <a:ea typeface="Gothic A1"/>
                <a:cs typeface="Gothic A1"/>
                <a:sym typeface="Gothic A1"/>
              </a:rPr>
              <a:t>EXPANSION PLAN - TARGET AREAS</a:t>
            </a:r>
          </a:p>
          <a:p>
            <a:pPr>
              <a:lnSpc>
                <a:spcPct val="115000"/>
              </a:lnSpc>
              <a:buSzPts val="1100"/>
            </a:pPr>
            <a:endParaRPr lang="en-GB" sz="900" dirty="0">
              <a:solidFill>
                <a:schemeClr val="accent2">
                  <a:lumMod val="75000"/>
                  <a:lumOff val="25000"/>
                </a:schemeClr>
              </a:solidFill>
              <a:latin typeface="Barlow" panose="00000500000000000000" pitchFamily="2" charset="0"/>
              <a:ea typeface="Gothic A1"/>
              <a:cs typeface="Gothic A1"/>
              <a:sym typeface="Gothic A1"/>
            </a:endParaRPr>
          </a:p>
          <a:p>
            <a:pPr>
              <a:lnSpc>
                <a:spcPct val="115000"/>
              </a:lnSpc>
              <a:buSzPts val="1100"/>
            </a:pPr>
            <a:r>
              <a:rPr lang="en-GB" sz="900" dirty="0">
                <a:solidFill>
                  <a:srgbClr val="201F1E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The App will go on fast scaling in: </a:t>
            </a:r>
          </a:p>
          <a:p>
            <a:pPr>
              <a:lnSpc>
                <a:spcPct val="115000"/>
              </a:lnSpc>
              <a:buSzPts val="1100"/>
            </a:pPr>
            <a:r>
              <a:rPr lang="en-GB" sz="900" dirty="0">
                <a:solidFill>
                  <a:srgbClr val="201F1E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GB" sz="900" dirty="0">
                <a:solidFill>
                  <a:srgbClr val="201F1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▪ </a:t>
            </a:r>
            <a:r>
              <a:rPr lang="en-GB" sz="900" dirty="0">
                <a:solidFill>
                  <a:srgbClr val="201F1E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Middle East</a:t>
            </a:r>
            <a:r>
              <a:rPr lang="en-GB" sz="900" dirty="0">
                <a:solidFill>
                  <a:srgbClr val="201F1E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 –                         Dubai: </a:t>
            </a:r>
            <a:r>
              <a:rPr lang="en-GB" sz="900" b="1" dirty="0">
                <a:solidFill>
                  <a:srgbClr val="201F1E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1.6 million </a:t>
            </a:r>
            <a:r>
              <a:rPr lang="en-GB" sz="900" dirty="0">
                <a:solidFill>
                  <a:srgbClr val="201F1E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cars</a:t>
            </a:r>
            <a:endParaRPr lang="en-GB" sz="900" dirty="0">
              <a:solidFill>
                <a:srgbClr val="201F1E"/>
              </a:solidFill>
              <a:effectLst/>
              <a:latin typeface="Barlow" panose="00000500000000000000" pitchFamily="2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buSzPts val="1100"/>
            </a:pPr>
            <a:r>
              <a:rPr lang="en-GB" sz="900" dirty="0">
                <a:solidFill>
                  <a:srgbClr val="201F1E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▪ </a:t>
            </a:r>
            <a:r>
              <a:rPr lang="en-GB" sz="900" dirty="0">
                <a:solidFill>
                  <a:srgbClr val="201F1E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Central America -               </a:t>
            </a:r>
            <a:r>
              <a:rPr lang="en-GB" sz="900" dirty="0">
                <a:solidFill>
                  <a:srgbClr val="201F1E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Salvador</a:t>
            </a:r>
            <a:r>
              <a:rPr lang="en-GB" sz="900" dirty="0">
                <a:solidFill>
                  <a:srgbClr val="201F1E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:</a:t>
            </a:r>
            <a:r>
              <a:rPr lang="en-GB" sz="900" dirty="0">
                <a:solidFill>
                  <a:srgbClr val="201F1E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GB" sz="900" b="1" dirty="0">
                <a:solidFill>
                  <a:srgbClr val="201F1E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654,000</a:t>
            </a:r>
            <a:r>
              <a:rPr lang="en-GB" sz="900" dirty="0">
                <a:solidFill>
                  <a:srgbClr val="201F1E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GB" sz="900" dirty="0">
                <a:solidFill>
                  <a:srgbClr val="201F1E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cars</a:t>
            </a:r>
          </a:p>
          <a:p>
            <a:pPr>
              <a:lnSpc>
                <a:spcPct val="115000"/>
              </a:lnSpc>
              <a:buSzPts val="1100"/>
            </a:pPr>
            <a:r>
              <a:rPr lang="en-GB" sz="900" dirty="0">
                <a:solidFill>
                  <a:srgbClr val="201F1E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GB" sz="900" dirty="0">
                <a:solidFill>
                  <a:srgbClr val="201F1E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▪ </a:t>
            </a:r>
            <a:r>
              <a:rPr lang="en-GB" sz="900" dirty="0">
                <a:solidFill>
                  <a:srgbClr val="201F1E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Central America -               SICA</a:t>
            </a:r>
            <a:r>
              <a:rPr lang="en-GB" sz="900" dirty="0">
                <a:solidFill>
                  <a:srgbClr val="201F1E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 economic zone: </a:t>
            </a:r>
            <a:r>
              <a:rPr lang="en-GB" sz="900" b="1" dirty="0">
                <a:solidFill>
                  <a:srgbClr val="201F1E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6 million</a:t>
            </a:r>
            <a:r>
              <a:rPr lang="en-GB" sz="900" b="1" dirty="0">
                <a:solidFill>
                  <a:srgbClr val="201F1E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GB" sz="900" dirty="0">
                <a:solidFill>
                  <a:srgbClr val="201F1E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cars</a:t>
            </a:r>
          </a:p>
          <a:p>
            <a:pPr>
              <a:lnSpc>
                <a:spcPct val="115000"/>
              </a:lnSpc>
              <a:buSzPts val="1100"/>
            </a:pPr>
            <a:r>
              <a:rPr lang="en-GB" sz="900" dirty="0">
                <a:solidFill>
                  <a:srgbClr val="201F1E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▪ </a:t>
            </a:r>
            <a:r>
              <a:rPr lang="en-GB" sz="900" dirty="0">
                <a:solidFill>
                  <a:srgbClr val="201F1E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US</a:t>
            </a:r>
            <a:r>
              <a:rPr lang="en-GB" sz="900" dirty="0">
                <a:solidFill>
                  <a:srgbClr val="201F1E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 -                                            </a:t>
            </a:r>
            <a:r>
              <a:rPr lang="en-GB" sz="900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American Automobile </a:t>
            </a:r>
            <a:r>
              <a:rPr lang="en-GB" sz="900" dirty="0" err="1">
                <a:solidFill>
                  <a:schemeClr val="tx1"/>
                </a:solidFill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Ass’n</a:t>
            </a:r>
            <a:r>
              <a:rPr lang="en-GB" sz="900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GB" sz="900" b="1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57 million </a:t>
            </a:r>
            <a:r>
              <a:rPr lang="en-GB" sz="900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members</a:t>
            </a:r>
            <a:endParaRPr lang="en-GB" sz="900" dirty="0">
              <a:solidFill>
                <a:srgbClr val="201F1E"/>
              </a:solidFill>
              <a:effectLst/>
              <a:latin typeface="Barlow" panose="00000500000000000000" pitchFamily="2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buSzPts val="1100"/>
            </a:pPr>
            <a:r>
              <a:rPr lang="en-GB" sz="900" dirty="0">
                <a:solidFill>
                  <a:srgbClr val="201F1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▪ </a:t>
            </a:r>
            <a:r>
              <a:rPr lang="en-GB" sz="900" dirty="0">
                <a:solidFill>
                  <a:srgbClr val="201F1E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Europe </a:t>
            </a:r>
            <a:r>
              <a:rPr lang="en-GB" sz="900" dirty="0">
                <a:solidFill>
                  <a:srgbClr val="201F1E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–                                 France: </a:t>
            </a:r>
            <a:r>
              <a:rPr lang="en-GB" sz="900" b="1" dirty="0">
                <a:solidFill>
                  <a:srgbClr val="201F1E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32 million </a:t>
            </a:r>
            <a:r>
              <a:rPr lang="en-GB" sz="900" dirty="0">
                <a:solidFill>
                  <a:srgbClr val="201F1E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cars;              </a:t>
            </a:r>
          </a:p>
          <a:p>
            <a:pPr>
              <a:lnSpc>
                <a:spcPct val="115000"/>
              </a:lnSpc>
              <a:buSzPts val="1100"/>
            </a:pPr>
            <a:r>
              <a:rPr lang="en-GB" sz="900" dirty="0">
                <a:solidFill>
                  <a:srgbClr val="201F1E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                                                             Italy: </a:t>
            </a:r>
            <a:r>
              <a:rPr lang="en-GB" sz="900" b="1" dirty="0">
                <a:solidFill>
                  <a:srgbClr val="201F1E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40 million </a:t>
            </a:r>
            <a:r>
              <a:rPr lang="en-GB" sz="900" dirty="0">
                <a:solidFill>
                  <a:srgbClr val="201F1E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cars; </a:t>
            </a:r>
          </a:p>
          <a:p>
            <a:pPr>
              <a:lnSpc>
                <a:spcPct val="115000"/>
              </a:lnSpc>
              <a:buSzPts val="1100"/>
            </a:pPr>
            <a:r>
              <a:rPr lang="en-GB" sz="900" dirty="0">
                <a:solidFill>
                  <a:srgbClr val="201F1E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                                                             Germany: </a:t>
            </a:r>
            <a:r>
              <a:rPr lang="en-GB" sz="900" b="1" dirty="0">
                <a:solidFill>
                  <a:srgbClr val="201F1E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42 million </a:t>
            </a:r>
            <a:r>
              <a:rPr lang="en-GB" sz="900" dirty="0">
                <a:solidFill>
                  <a:srgbClr val="201F1E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cars.</a:t>
            </a:r>
            <a:endParaRPr lang="en-GB" sz="900" dirty="0">
              <a:solidFill>
                <a:srgbClr val="201F1E"/>
              </a:solidFill>
              <a:effectLst/>
              <a:latin typeface="Barlow" panose="00000500000000000000" pitchFamily="2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buSzPts val="1100"/>
            </a:pPr>
            <a:endParaRPr lang="en-GB" sz="900" dirty="0">
              <a:solidFill>
                <a:srgbClr val="201F1E"/>
              </a:solidFill>
              <a:latin typeface="Barlow" panose="00000500000000000000" pitchFamily="2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buSzPts val="1100"/>
            </a:pPr>
            <a:r>
              <a:rPr lang="en-GB" sz="900" dirty="0">
                <a:solidFill>
                  <a:srgbClr val="201F1E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R</a:t>
            </a:r>
            <a:r>
              <a:rPr lang="en-GB" sz="900" dirty="0">
                <a:solidFill>
                  <a:srgbClr val="201F1E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egional HQs in </a:t>
            </a:r>
            <a:r>
              <a:rPr lang="en-GB" sz="900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Iraq and El Salvador this year to prep for multiregional growth push.</a:t>
            </a:r>
            <a:endParaRPr lang="en-GB" sz="900" dirty="0">
              <a:solidFill>
                <a:schemeClr val="tx1"/>
              </a:solidFill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SzPts val="1100"/>
            </a:pPr>
            <a:r>
              <a:rPr lang="en-GB" sz="900" dirty="0">
                <a:solidFill>
                  <a:schemeClr val="tx1"/>
                </a:solidFill>
                <a:latin typeface="Barlow" panose="00000500000000000000" pitchFamily="2" charset="0"/>
                <a:ea typeface="Gothic A1"/>
                <a:cs typeface="Gothic A1"/>
                <a:sym typeface="Gothic A1"/>
              </a:rPr>
              <a:t>The Expansion Plan is for the next 18-24 months,</a:t>
            </a:r>
            <a:r>
              <a:rPr lang="en-GB" sz="900" dirty="0">
                <a:solidFill>
                  <a:schemeClr val="tx1"/>
                </a:solidFill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TFS </a:t>
            </a:r>
            <a:r>
              <a:rPr lang="en-GB" sz="900" dirty="0"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will market the products on a massive scale</a:t>
            </a:r>
            <a:r>
              <a:rPr lang="en-GB" sz="900" dirty="0"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</a:p>
          <a:p>
            <a:pPr>
              <a:lnSpc>
                <a:spcPct val="115000"/>
              </a:lnSpc>
              <a:buSzPts val="1100"/>
            </a:pPr>
            <a:endParaRPr lang="en-GB" sz="900" dirty="0">
              <a:solidFill>
                <a:schemeClr val="tx1"/>
              </a:solidFill>
              <a:latin typeface="Barlow" panose="00000500000000000000" pitchFamily="2" charset="0"/>
              <a:ea typeface="Gothic A1"/>
              <a:cs typeface="Gothic A1"/>
              <a:sym typeface="Gothic A1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GB" sz="1000" dirty="0">
              <a:solidFill>
                <a:schemeClr val="accent2">
                  <a:lumMod val="75000"/>
                  <a:lumOff val="25000"/>
                </a:schemeClr>
              </a:solidFill>
              <a:latin typeface="Barlow" panose="00000500000000000000" pitchFamily="2" charset="0"/>
              <a:ea typeface="Gothic A1"/>
              <a:cs typeface="Gothic A1"/>
              <a:sym typeface="Gothic A1"/>
            </a:endParaRPr>
          </a:p>
          <a:p>
            <a:pPr>
              <a:lnSpc>
                <a:spcPct val="115000"/>
              </a:lnSpc>
              <a:buSzPts val="1100"/>
            </a:pPr>
            <a:endParaRPr lang="en-GB" sz="1000" dirty="0"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dirty="0">
              <a:solidFill>
                <a:schemeClr val="accent2">
                  <a:lumMod val="75000"/>
                  <a:lumOff val="25000"/>
                </a:schemeClr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BAF209-8F8A-C146-56F1-56BBE4A919D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967" r="30646"/>
          <a:stretch/>
        </p:blipFill>
        <p:spPr>
          <a:xfrm>
            <a:off x="4520152" y="551467"/>
            <a:ext cx="3842076" cy="4125405"/>
          </a:xfrm>
          <a:prstGeom prst="rect">
            <a:avLst/>
          </a:prstGeom>
          <a:effectLst>
            <a:outerShdw blurRad="50800" dir="8880000" algn="ctr" rotWithShape="0">
              <a:srgbClr val="000000">
                <a:alpha val="9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63031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71">
            <a:hlinkClick r:id="rId3"/>
          </p:cNvPr>
          <p:cNvSpPr txBox="1"/>
          <p:nvPr/>
        </p:nvSpPr>
        <p:spPr>
          <a:xfrm>
            <a:off x="447575" y="476250"/>
            <a:ext cx="40386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666666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Competition</a:t>
            </a:r>
            <a:endParaRPr sz="3400">
              <a:solidFill>
                <a:srgbClr val="666666"/>
              </a:solidFill>
              <a:latin typeface="Gothic A1 SemiBold"/>
              <a:ea typeface="Gothic A1 SemiBold"/>
              <a:cs typeface="Gothic A1 SemiBold"/>
              <a:sym typeface="Gothic A1 SemiBold"/>
            </a:endParaRPr>
          </a:p>
        </p:txBody>
      </p:sp>
      <p:sp>
        <p:nvSpPr>
          <p:cNvPr id="458" name="Google Shape;458;p71"/>
          <p:cNvSpPr txBox="1"/>
          <p:nvPr/>
        </p:nvSpPr>
        <p:spPr>
          <a:xfrm>
            <a:off x="488525" y="1100225"/>
            <a:ext cx="3597600" cy="893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2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2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None.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A40645-6A0D-1CC7-5FB2-611F5340D9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0182" y="-103695"/>
            <a:ext cx="77152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138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9">
            <a:hlinkClick r:id="rId3"/>
          </p:cNvPr>
          <p:cNvSpPr txBox="1"/>
          <p:nvPr/>
        </p:nvSpPr>
        <p:spPr>
          <a:xfrm>
            <a:off x="447575" y="476250"/>
            <a:ext cx="40386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dirty="0">
                <a:solidFill>
                  <a:srgbClr val="666666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Why Now?</a:t>
            </a:r>
            <a:endParaRPr sz="3400" dirty="0">
              <a:solidFill>
                <a:srgbClr val="666666"/>
              </a:solidFill>
              <a:latin typeface="Gothic A1 SemiBold"/>
              <a:ea typeface="Gothic A1 SemiBold"/>
              <a:cs typeface="Gothic A1 SemiBold"/>
              <a:sym typeface="Gothic A1 SemiBold"/>
            </a:endParaRPr>
          </a:p>
        </p:txBody>
      </p:sp>
      <p:sp>
        <p:nvSpPr>
          <p:cNvPr id="438" name="Google Shape;438;p69"/>
          <p:cNvSpPr txBox="1"/>
          <p:nvPr/>
        </p:nvSpPr>
        <p:spPr>
          <a:xfrm>
            <a:off x="494424" y="1100223"/>
            <a:ext cx="3597600" cy="158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5000"/>
              </a:lnSpc>
              <a:buSzPts val="1100"/>
            </a:pPr>
            <a:r>
              <a:rPr lang="en-GB" sz="800" spc="-10" dirty="0">
                <a:solidFill>
                  <a:srgbClr val="333333"/>
                </a:solidFill>
                <a:latin typeface="Barlow" panose="00000500000000000000" pitchFamily="2" charset="0"/>
                <a:ea typeface="Times New Roman" panose="02020603050405020304" pitchFamily="18" charset="0"/>
              </a:rPr>
              <a:t>Having</a:t>
            </a:r>
            <a:r>
              <a:rPr lang="en-GB" sz="800" spc="-10" dirty="0">
                <a:solidFill>
                  <a:srgbClr val="333333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</a:rPr>
              <a:t> spent the past </a:t>
            </a:r>
            <a:r>
              <a:rPr lang="en-GB" sz="800" spc="-10" dirty="0">
                <a:solidFill>
                  <a:srgbClr val="333333"/>
                </a:solidFill>
                <a:latin typeface="Barlow" panose="00000500000000000000" pitchFamily="2" charset="0"/>
                <a:ea typeface="Times New Roman" panose="02020603050405020304" pitchFamily="18" charset="0"/>
              </a:rPr>
              <a:t>2 </a:t>
            </a:r>
            <a:r>
              <a:rPr lang="en-GB" sz="800" spc="-10" dirty="0">
                <a:solidFill>
                  <a:srgbClr val="333333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</a:rPr>
              <a:t>years talking to the market and building up our </a:t>
            </a:r>
            <a:r>
              <a:rPr lang="en-GB" sz="800" spc="-10" dirty="0">
                <a:solidFill>
                  <a:srgbClr val="333333"/>
                </a:solidFill>
                <a:latin typeface="Barlow" panose="00000500000000000000" pitchFamily="2" charset="0"/>
                <a:ea typeface="Times New Roman" panose="02020603050405020304" pitchFamily="18" charset="0"/>
              </a:rPr>
              <a:t>platform</a:t>
            </a:r>
            <a:r>
              <a:rPr lang="en-GB" sz="800" spc="-10" dirty="0">
                <a:solidFill>
                  <a:srgbClr val="333333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</a:rPr>
              <a:t> t</a:t>
            </a:r>
            <a:r>
              <a:rPr lang="en-GB" sz="800" spc="-10" dirty="0">
                <a:solidFill>
                  <a:srgbClr val="333333"/>
                </a:solidFill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hat</a:t>
            </a:r>
            <a:r>
              <a:rPr lang="en-GB" sz="800" spc="-10" dirty="0">
                <a:solidFill>
                  <a:srgbClr val="333333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</a:rPr>
              <a:t> layers for Qatari local motorists a convenience-focused package</a:t>
            </a:r>
            <a:r>
              <a:rPr lang="en-GB" sz="800" spc="-10" dirty="0">
                <a:solidFill>
                  <a:srgbClr val="333333"/>
                </a:solidFill>
                <a:latin typeface="Barlow" panose="00000500000000000000" pitchFamily="2" charset="0"/>
                <a:ea typeface="Times New Roman" panose="02020603050405020304" pitchFamily="18" charset="0"/>
              </a:rPr>
              <a:t> </a:t>
            </a:r>
            <a:r>
              <a:rPr lang="en-GB" sz="800" spc="-10" dirty="0">
                <a:solidFill>
                  <a:srgbClr val="333333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</a:rPr>
              <a:t>atop a network of independent services provider the country</a:t>
            </a:r>
            <a:r>
              <a:rPr lang="en-GB" sz="800" spc="-10" dirty="0">
                <a:solidFill>
                  <a:srgbClr val="333333"/>
                </a:solidFill>
                <a:latin typeface="Barlow" panose="00000500000000000000" pitchFamily="2" charset="0"/>
                <a:ea typeface="Times New Roman" panose="02020603050405020304" pitchFamily="18" charset="0"/>
              </a:rPr>
              <a:t>, the App is ready for launch.</a:t>
            </a:r>
            <a:endParaRPr lang="en-GB" sz="800" spc="-10" dirty="0">
              <a:solidFill>
                <a:srgbClr val="333333"/>
              </a:solidFill>
              <a:effectLst/>
              <a:latin typeface="Barlow" panose="00000500000000000000" pitchFamily="2" charset="0"/>
              <a:ea typeface="Times New Roman" panose="02020603050405020304" pitchFamily="18" charset="0"/>
            </a:endParaRPr>
          </a:p>
          <a:p>
            <a:pPr>
              <a:lnSpc>
                <a:spcPct val="115000"/>
              </a:lnSpc>
              <a:buSzPts val="1100"/>
            </a:pP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SzPts val="1100"/>
            </a:pPr>
            <a:r>
              <a:rPr lang="en-GB" sz="800" dirty="0"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GB" sz="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otorists’ pain, overwhelming univocal complaints over the lack of help and outcry for a much-needed solution </a:t>
            </a:r>
            <a:r>
              <a:rPr lang="en-GB" sz="800" dirty="0"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have been detected / documented</a:t>
            </a:r>
            <a:r>
              <a:rPr lang="en-GB" sz="800" dirty="0">
                <a:effectLst/>
                <a:latin typeface="Barlow" panose="00000500000000000000" pitchFamily="2" charset="0"/>
                <a:ea typeface="Times New Roman" panose="02020603050405020304" pitchFamily="18" charset="0"/>
              </a:rPr>
              <a:t>.</a:t>
            </a: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SzPts val="1100"/>
            </a:pPr>
            <a:endParaRPr lang="en-GB" sz="800" dirty="0"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SzPts val="1100"/>
            </a:pPr>
            <a:r>
              <a:rPr lang="en-GB" sz="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Agreements with a wide range of leading services suppliers have been reached.</a:t>
            </a:r>
          </a:p>
          <a:p>
            <a:pPr>
              <a:lnSpc>
                <a:spcPct val="115000"/>
              </a:lnSpc>
              <a:buSzPts val="1100"/>
            </a:pPr>
            <a:endParaRPr lang="en-GB" sz="800" spc="-10" dirty="0">
              <a:solidFill>
                <a:srgbClr val="333333"/>
              </a:solidFill>
              <a:latin typeface="Barlow" panose="00000500000000000000" pitchFamily="2" charset="0"/>
              <a:ea typeface="Times New Roman" panose="02020603050405020304" pitchFamily="18" charset="0"/>
            </a:endParaRPr>
          </a:p>
          <a:p>
            <a:pPr>
              <a:lnSpc>
                <a:spcPct val="115000"/>
              </a:lnSpc>
              <a:buSzPts val="1100"/>
            </a:pPr>
            <a:r>
              <a:rPr lang="en-GB" sz="800" u="sng" dirty="0">
                <a:solidFill>
                  <a:schemeClr val="accent1">
                    <a:lumMod val="75000"/>
                  </a:schemeClr>
                </a:solidFill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sayaritee</a:t>
            </a:r>
            <a:r>
              <a:rPr lang="en-GB" sz="800" u="sng" dirty="0">
                <a:solidFill>
                  <a:schemeClr val="accent1">
                    <a:lumMod val="75000"/>
                  </a:schemeClr>
                </a:solidFill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.com </a:t>
            </a:r>
            <a:r>
              <a:rPr lang="en-GB" sz="800" spc="-10" dirty="0">
                <a:solidFill>
                  <a:srgbClr val="333333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</a:rPr>
              <a:t>is</a:t>
            </a:r>
            <a:r>
              <a:rPr lang="en-GB" sz="800" spc="-10" dirty="0">
                <a:solidFill>
                  <a:srgbClr val="333333"/>
                </a:solidFill>
                <a:latin typeface="Barlow" panose="00000500000000000000" pitchFamily="2" charset="0"/>
                <a:ea typeface="Times New Roman" panose="02020603050405020304" pitchFamily="18" charset="0"/>
              </a:rPr>
              <a:t> a most useful and welcome asset, there is a particular urgency for it</a:t>
            </a:r>
            <a:r>
              <a:rPr lang="en-GB" sz="800" spc="-10" dirty="0">
                <a:solidFill>
                  <a:srgbClr val="333333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</a:rPr>
              <a:t> to go ON-LINE in a BIG WAY and there is need for investment in its solution.</a:t>
            </a:r>
            <a:endParaRPr lang="en" sz="800" b="1" dirty="0">
              <a:solidFill>
                <a:srgbClr val="999999"/>
              </a:solidFill>
              <a:latin typeface="+mj-lt"/>
              <a:ea typeface="Gothic A1"/>
              <a:cs typeface="Gothic A1"/>
              <a:sym typeface="Gothic A1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800" b="1" dirty="0">
              <a:solidFill>
                <a:srgbClr val="999999"/>
              </a:solidFill>
              <a:latin typeface="Barlow" panose="00000500000000000000" pitchFamily="2" charset="0"/>
              <a:ea typeface="Gothic A1"/>
              <a:cs typeface="Gothic A1"/>
              <a:sym typeface="Gothic A1"/>
            </a:endParaRPr>
          </a:p>
        </p:txBody>
      </p:sp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E9CF7D84-63F8-F0FB-4369-A282C6CEFD1F}"/>
              </a:ext>
            </a:extLst>
          </p:cNvPr>
          <p:cNvSpPr/>
          <p:nvPr/>
        </p:nvSpPr>
        <p:spPr>
          <a:xfrm>
            <a:off x="4741684" y="1100223"/>
            <a:ext cx="3723588" cy="3051432"/>
          </a:xfrm>
          <a:prstGeom prst="snip2DiagRect">
            <a:avLst>
              <a:gd name="adj1" fmla="val 0"/>
              <a:gd name="adj2" fmla="val 16166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0473" r="-1243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: Diagonal Corners Snipped 8">
            <a:extLst>
              <a:ext uri="{FF2B5EF4-FFF2-40B4-BE49-F238E27FC236}">
                <a16:creationId xmlns:a16="http://schemas.microsoft.com/office/drawing/2014/main" id="{10213BCF-379E-4777-D8D1-F5A2343A96BA}"/>
              </a:ext>
            </a:extLst>
          </p:cNvPr>
          <p:cNvSpPr/>
          <p:nvPr/>
        </p:nvSpPr>
        <p:spPr>
          <a:xfrm>
            <a:off x="4741683" y="1100223"/>
            <a:ext cx="3723588" cy="3051432"/>
          </a:xfrm>
          <a:prstGeom prst="snip2DiagRect">
            <a:avLst>
              <a:gd name="adj1" fmla="val 0"/>
              <a:gd name="adj2" fmla="val 16166"/>
            </a:avLst>
          </a:prstGeom>
          <a:solidFill>
            <a:schemeClr val="bg1">
              <a:lumMod val="95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0">
            <a:hlinkClick r:id="rId3"/>
          </p:cNvPr>
          <p:cNvSpPr txBox="1"/>
          <p:nvPr/>
        </p:nvSpPr>
        <p:spPr>
          <a:xfrm>
            <a:off x="447575" y="476250"/>
            <a:ext cx="40386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dirty="0">
                <a:solidFill>
                  <a:schemeClr val="bg2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Product 1</a:t>
            </a:r>
            <a:endParaRPr sz="3400" dirty="0">
              <a:solidFill>
                <a:schemeClr val="bg2"/>
              </a:solidFill>
              <a:latin typeface="Gothic A1 SemiBold"/>
              <a:ea typeface="Gothic A1 SemiBold"/>
              <a:cs typeface="Gothic A1 SemiBold"/>
              <a:sym typeface="Gothic A1 SemiBold"/>
            </a:endParaRPr>
          </a:p>
        </p:txBody>
      </p:sp>
      <p:sp>
        <p:nvSpPr>
          <p:cNvPr id="448" name="Google Shape;448;p70"/>
          <p:cNvSpPr txBox="1"/>
          <p:nvPr/>
        </p:nvSpPr>
        <p:spPr>
          <a:xfrm>
            <a:off x="488525" y="1100224"/>
            <a:ext cx="3597600" cy="234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GB" sz="900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This App integrates leading individual services providers of the field </a:t>
            </a:r>
            <a:r>
              <a:rPr lang="en-GB" sz="900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selected and qualified by TFS based on their grades and expertise to ensure the highest Customer satisfaction.</a:t>
            </a:r>
            <a:endParaRPr lang="en-GB" sz="900" dirty="0">
              <a:solidFill>
                <a:schemeClr val="tx1"/>
              </a:solidFill>
              <a:effectLst/>
              <a:latin typeface="Barlow" panose="00000500000000000000" pitchFamily="2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GB" sz="900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It helps motorists to effortlessly arrange all services requirements, and provides Best Practice solutions not limited to, but </a:t>
            </a:r>
            <a:r>
              <a:rPr lang="en-GB" sz="900" dirty="0">
                <a:solidFill>
                  <a:schemeClr val="tx1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including</a:t>
            </a:r>
            <a:r>
              <a:rPr lang="en-GB" sz="900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: </a:t>
            </a:r>
          </a:p>
          <a:p>
            <a:pPr>
              <a:spcAft>
                <a:spcPts val="800"/>
              </a:spcAft>
            </a:pPr>
            <a:r>
              <a:rPr lang="en-GB" sz="900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• Garages, </a:t>
            </a:r>
          </a:p>
          <a:p>
            <a:pPr>
              <a:spcAft>
                <a:spcPts val="800"/>
              </a:spcAft>
            </a:pPr>
            <a:r>
              <a:rPr lang="en-GB" sz="900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• Insurance companies, </a:t>
            </a:r>
          </a:p>
          <a:p>
            <a:pPr>
              <a:spcAft>
                <a:spcPts val="800"/>
              </a:spcAft>
            </a:pPr>
            <a:r>
              <a:rPr lang="en-GB" sz="900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• Spare parts, </a:t>
            </a:r>
          </a:p>
          <a:p>
            <a:pPr>
              <a:spcAft>
                <a:spcPts val="800"/>
              </a:spcAft>
            </a:pPr>
            <a:r>
              <a:rPr lang="en-GB" sz="900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• Roadside assistance, </a:t>
            </a:r>
          </a:p>
          <a:p>
            <a:pPr>
              <a:spcAft>
                <a:spcPts val="800"/>
              </a:spcAft>
            </a:pPr>
            <a:r>
              <a:rPr lang="en-GB" sz="900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• Car wash, </a:t>
            </a:r>
          </a:p>
          <a:p>
            <a:pPr>
              <a:spcAft>
                <a:spcPts val="800"/>
              </a:spcAft>
            </a:pPr>
            <a:r>
              <a:rPr lang="en-GB" sz="900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• Car rental services.</a:t>
            </a:r>
          </a:p>
          <a:p>
            <a:pPr>
              <a:lnSpc>
                <a:spcPct val="115000"/>
              </a:lnSpc>
              <a:buSzPts val="1100"/>
            </a:pPr>
            <a:endParaRPr lang="en-GB" sz="1100" dirty="0">
              <a:latin typeface="Barlow" panose="00000500000000000000" pitchFamily="2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dirty="0">
              <a:solidFill>
                <a:srgbClr val="999999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449" name="Google Shape;449;p70"/>
          <p:cNvSpPr/>
          <p:nvPr/>
        </p:nvSpPr>
        <p:spPr>
          <a:xfrm>
            <a:off x="4505325" y="552450"/>
            <a:ext cx="4038600" cy="40386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70"/>
          <p:cNvSpPr txBox="1"/>
          <p:nvPr/>
        </p:nvSpPr>
        <p:spPr>
          <a:xfrm>
            <a:off x="447575" y="4344675"/>
            <a:ext cx="740100" cy="1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dirty="0">
                <a:solidFill>
                  <a:srgbClr val="999999"/>
                </a:solidFill>
                <a:latin typeface="Gothic A1"/>
                <a:ea typeface="Gothic A1"/>
                <a:cs typeface="Gothic A1"/>
                <a:sym typeface="Gothic A1"/>
              </a:rPr>
              <a:t>Your lg</a:t>
            </a:r>
            <a:endParaRPr sz="1100" dirty="0">
              <a:solidFill>
                <a:srgbClr val="999999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0">
            <a:hlinkClick r:id="rId3"/>
          </p:cNvPr>
          <p:cNvSpPr txBox="1"/>
          <p:nvPr/>
        </p:nvSpPr>
        <p:spPr>
          <a:xfrm>
            <a:off x="447575" y="476250"/>
            <a:ext cx="40386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dirty="0">
                <a:solidFill>
                  <a:schemeClr val="bg2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Product 2</a:t>
            </a:r>
            <a:endParaRPr sz="3400" dirty="0">
              <a:solidFill>
                <a:schemeClr val="bg2"/>
              </a:solidFill>
              <a:latin typeface="Gothic A1 SemiBold"/>
              <a:ea typeface="Gothic A1 SemiBold"/>
              <a:cs typeface="Gothic A1 SemiBold"/>
              <a:sym typeface="Gothic A1 SemiBold"/>
            </a:endParaRPr>
          </a:p>
        </p:txBody>
      </p:sp>
      <p:sp>
        <p:nvSpPr>
          <p:cNvPr id="448" name="Google Shape;448;p70"/>
          <p:cNvSpPr txBox="1"/>
          <p:nvPr/>
        </p:nvSpPr>
        <p:spPr>
          <a:xfrm>
            <a:off x="488525" y="1100224"/>
            <a:ext cx="3597600" cy="2480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07000"/>
              </a:lnSpc>
            </a:pPr>
            <a:r>
              <a:rPr lang="en-GB" sz="900" dirty="0"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Key features, s</a:t>
            </a:r>
            <a:r>
              <a:rPr lang="en-GB" sz="9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ervices offered, including but not limited to: </a:t>
            </a:r>
          </a:p>
          <a:p>
            <a:pPr lvl="0">
              <a:lnSpc>
                <a:spcPct val="107000"/>
              </a:lnSpc>
            </a:pPr>
            <a:endParaRPr lang="en-GB" sz="900" dirty="0"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07000"/>
              </a:lnSpc>
            </a:pPr>
            <a:r>
              <a:rPr lang="en-GB" sz="900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	• </a:t>
            </a:r>
            <a:r>
              <a:rPr lang="en-GB" sz="9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Periodical Servicing </a:t>
            </a:r>
            <a:endParaRPr lang="en-GB" sz="900" dirty="0"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07000"/>
              </a:lnSpc>
            </a:pPr>
            <a:r>
              <a:rPr lang="en-GB" sz="900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	• </a:t>
            </a:r>
            <a:r>
              <a:rPr lang="en-GB" sz="9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Car Warranty - Extended and Exceptional Warranty </a:t>
            </a:r>
            <a:endParaRPr lang="en-GB" sz="900" dirty="0"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07000"/>
              </a:lnSpc>
            </a:pPr>
            <a:r>
              <a:rPr lang="en-GB" sz="900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	• </a:t>
            </a:r>
            <a:r>
              <a:rPr lang="en-GB" sz="9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Insurance Claims and Dealings </a:t>
            </a:r>
            <a:endParaRPr lang="en-GB" sz="900" dirty="0"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07000"/>
              </a:lnSpc>
            </a:pPr>
            <a:r>
              <a:rPr lang="en-GB" sz="900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	• </a:t>
            </a:r>
            <a:r>
              <a:rPr lang="en-GB" sz="9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Vehicle Registration </a:t>
            </a:r>
            <a:endParaRPr lang="en-GB" sz="900" dirty="0"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07000"/>
              </a:lnSpc>
            </a:pPr>
            <a:r>
              <a:rPr lang="en-GB" sz="900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	• </a:t>
            </a:r>
            <a:r>
              <a:rPr lang="en-GB" sz="9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Vehicle Inspection (ISTIMARA) </a:t>
            </a:r>
            <a:endParaRPr lang="en-GB" sz="900" dirty="0"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07000"/>
              </a:lnSpc>
            </a:pPr>
            <a:r>
              <a:rPr lang="en-GB" sz="900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	• </a:t>
            </a:r>
            <a:r>
              <a:rPr lang="en-GB" sz="9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Garage Services </a:t>
            </a:r>
            <a:endParaRPr lang="en-GB" sz="900" dirty="0"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07000"/>
              </a:lnSpc>
            </a:pPr>
            <a:r>
              <a:rPr lang="en-GB" sz="900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	• </a:t>
            </a:r>
            <a:r>
              <a:rPr lang="en-GB" sz="9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24/7/365 Road Side Assistance </a:t>
            </a:r>
            <a:endParaRPr lang="en-GB" sz="900" dirty="0"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07000"/>
              </a:lnSpc>
            </a:pPr>
            <a:r>
              <a:rPr lang="en-GB" sz="900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	• </a:t>
            </a:r>
            <a:r>
              <a:rPr lang="en-GB" sz="9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Collision Assistance</a:t>
            </a:r>
            <a:endParaRPr lang="en-GB" sz="900" dirty="0"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07000"/>
              </a:lnSpc>
            </a:pPr>
            <a:r>
              <a:rPr lang="en-GB" sz="900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	• </a:t>
            </a:r>
            <a:r>
              <a:rPr lang="en-GB" sz="9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Auto Theft or Auto Fire Assistance</a:t>
            </a:r>
            <a:endParaRPr lang="en-GB" sz="900" dirty="0"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07000"/>
              </a:lnSpc>
            </a:pPr>
            <a:r>
              <a:rPr lang="en-GB" sz="900" dirty="0">
                <a:solidFill>
                  <a:schemeClr val="tx1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	</a:t>
            </a:r>
            <a:r>
              <a:rPr lang="en-GB" sz="900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• </a:t>
            </a:r>
            <a:r>
              <a:rPr lang="en-GB" sz="9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Other Services: </a:t>
            </a:r>
            <a:endParaRPr lang="en-GB" sz="900" dirty="0"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07000"/>
              </a:lnSpc>
            </a:pPr>
            <a:r>
              <a:rPr lang="en-GB" sz="900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	• </a:t>
            </a:r>
            <a:r>
              <a:rPr lang="en-GB" sz="9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Electronic Vehicle Maintenance </a:t>
            </a:r>
            <a:endParaRPr lang="en-GB" sz="900" dirty="0"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07000"/>
              </a:lnSpc>
            </a:pPr>
            <a:r>
              <a:rPr lang="en-GB" sz="900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	• </a:t>
            </a:r>
            <a:r>
              <a:rPr lang="en-GB" sz="9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Electronic Vehicle Charging </a:t>
            </a:r>
            <a:endParaRPr lang="en-GB" sz="900" dirty="0"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07000"/>
              </a:lnSpc>
            </a:pPr>
            <a:r>
              <a:rPr lang="en-GB" sz="900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	• </a:t>
            </a:r>
            <a:r>
              <a:rPr lang="en-GB" sz="9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Car washing facilities </a:t>
            </a:r>
            <a:endParaRPr lang="en-GB" sz="900" dirty="0"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GB" sz="900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              	• </a:t>
            </a:r>
            <a:r>
              <a:rPr lang="en-GB" sz="9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Total Auto Protection Plans for Fleets</a:t>
            </a:r>
            <a:endParaRPr lang="en-GB" sz="900" dirty="0"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49" name="Google Shape;449;p70"/>
          <p:cNvSpPr/>
          <p:nvPr/>
        </p:nvSpPr>
        <p:spPr>
          <a:xfrm>
            <a:off x="4505325" y="552450"/>
            <a:ext cx="4038600" cy="40386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70"/>
          <p:cNvSpPr txBox="1"/>
          <p:nvPr/>
        </p:nvSpPr>
        <p:spPr>
          <a:xfrm>
            <a:off x="447575" y="4344675"/>
            <a:ext cx="740100" cy="1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dirty="0">
                <a:solidFill>
                  <a:srgbClr val="999999"/>
                </a:solidFill>
                <a:latin typeface="Gothic A1"/>
                <a:ea typeface="Gothic A1"/>
                <a:cs typeface="Gothic A1"/>
                <a:sym typeface="Gothic A1"/>
              </a:rPr>
              <a:t>Your lg</a:t>
            </a:r>
            <a:endParaRPr sz="1100" dirty="0">
              <a:solidFill>
                <a:srgbClr val="999999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</p:spTree>
    <p:extLst>
      <p:ext uri="{BB962C8B-B14F-4D97-AF65-F5344CB8AC3E}">
        <p14:creationId xmlns:p14="http://schemas.microsoft.com/office/powerpoint/2010/main" val="14630306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0">
            <a:hlinkClick r:id="rId3"/>
          </p:cNvPr>
          <p:cNvSpPr txBox="1"/>
          <p:nvPr/>
        </p:nvSpPr>
        <p:spPr>
          <a:xfrm>
            <a:off x="447575" y="476250"/>
            <a:ext cx="40386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dirty="0">
                <a:solidFill>
                  <a:schemeClr val="bg2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Product 3</a:t>
            </a:r>
            <a:endParaRPr sz="3400" dirty="0">
              <a:solidFill>
                <a:schemeClr val="bg2"/>
              </a:solidFill>
              <a:latin typeface="Gothic A1 SemiBold"/>
              <a:ea typeface="Gothic A1 SemiBold"/>
              <a:cs typeface="Gothic A1 SemiBold"/>
              <a:sym typeface="Gothic A1 SemiBold"/>
            </a:endParaRPr>
          </a:p>
        </p:txBody>
      </p:sp>
      <p:sp>
        <p:nvSpPr>
          <p:cNvPr id="448" name="Google Shape;448;p70"/>
          <p:cNvSpPr txBox="1"/>
          <p:nvPr/>
        </p:nvSpPr>
        <p:spPr>
          <a:xfrm>
            <a:off x="488525" y="1100224"/>
            <a:ext cx="3597600" cy="2109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GB" sz="800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Accessible through the DASHBOARD on the motorists’ mobile phones, the management of the App</a:t>
            </a:r>
            <a:r>
              <a:rPr lang="en-GB" sz="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 provides REAL-TIME overall picture of the auto industry services related to the individual vehicles, through: 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GB" sz="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• Information sharing immediate &amp; evident as all data stored in the same database,                                                                                                                                   • Automatic integration with other related services providers,                                             • Accurate and optimal resource management thanks to the digital platform,                 • Co-operation with qualified and certified services providers and vendors,                     • Exceptional Customer satisfaction, enabling &amp; delivering never-before-seen top-level services,                                                                                                                                                • Digital Services/Maintenance Record System where all historic data from all sources can be retrieved any time of the day from a single location, the management and services providers have instant access to the relevant data,          • Rate your experience                                                                                                                                      • Nationwide data warehouse for Big Data analysis.</a:t>
            </a: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49" name="Google Shape;449;p70"/>
          <p:cNvSpPr/>
          <p:nvPr/>
        </p:nvSpPr>
        <p:spPr>
          <a:xfrm>
            <a:off x="4505325" y="552450"/>
            <a:ext cx="4038600" cy="40386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88005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47;p70">
            <a:hlinkClick r:id="rId2"/>
            <a:extLst>
              <a:ext uri="{FF2B5EF4-FFF2-40B4-BE49-F238E27FC236}">
                <a16:creationId xmlns:a16="http://schemas.microsoft.com/office/drawing/2014/main" id="{68115246-2C23-4F3A-A6C0-3C96EBFF65FA}"/>
              </a:ext>
            </a:extLst>
          </p:cNvPr>
          <p:cNvSpPr txBox="1"/>
          <p:nvPr/>
        </p:nvSpPr>
        <p:spPr>
          <a:xfrm>
            <a:off x="447575" y="476250"/>
            <a:ext cx="40386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dirty="0">
                <a:solidFill>
                  <a:schemeClr val="bg2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Product 4</a:t>
            </a:r>
            <a:endParaRPr sz="3400" dirty="0">
              <a:solidFill>
                <a:schemeClr val="bg2"/>
              </a:solidFill>
              <a:latin typeface="Gothic A1 SemiBold"/>
              <a:ea typeface="Gothic A1 SemiBold"/>
              <a:cs typeface="Gothic A1 SemiBold"/>
              <a:sym typeface="Gothic A1 SemiBold"/>
            </a:endParaRPr>
          </a:p>
        </p:txBody>
      </p:sp>
      <p:sp>
        <p:nvSpPr>
          <p:cNvPr id="3" name="Google Shape;448;p70">
            <a:extLst>
              <a:ext uri="{FF2B5EF4-FFF2-40B4-BE49-F238E27FC236}">
                <a16:creationId xmlns:a16="http://schemas.microsoft.com/office/drawing/2014/main" id="{9664A92C-3D45-4521-A559-BD07C2142E2D}"/>
              </a:ext>
            </a:extLst>
          </p:cNvPr>
          <p:cNvSpPr txBox="1"/>
          <p:nvPr/>
        </p:nvSpPr>
        <p:spPr>
          <a:xfrm>
            <a:off x="488525" y="1100224"/>
            <a:ext cx="3597600" cy="23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n-GB" sz="800" dirty="0"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A r</a:t>
            </a:r>
            <a:r>
              <a:rPr lang="en-GB" sz="800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equest for quotation is sent </a:t>
            </a:r>
            <a:r>
              <a:rPr lang="en-GB" sz="800" dirty="0"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by </a:t>
            </a:r>
            <a:r>
              <a:rPr lang="en-GB" sz="800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the motorists via the App to all the registered service providers within </a:t>
            </a:r>
            <a:r>
              <a:rPr lang="en-GB" sz="800" dirty="0"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a</a:t>
            </a:r>
            <a:r>
              <a:rPr lang="en-GB" sz="800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 particular category</a:t>
            </a:r>
            <a:r>
              <a:rPr lang="en-GB" sz="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n-GB" sz="800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Once quotes received and reviewed, an appointment is booked with the preferred service centre recommended in the App. 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n-GB" sz="800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Also, it keeps detailed logs on work completed earlier, and reminds you of routine maintenance requirements.</a:t>
            </a: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n-GB" sz="800" dirty="0"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Motorists</a:t>
            </a:r>
            <a:r>
              <a:rPr lang="en-GB" sz="800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 have the facility to select one of the garages to repair their car at their doorstep, thus saving hassles, time and </a:t>
            </a:r>
            <a:r>
              <a:rPr lang="en-GB" sz="800" dirty="0"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cost</a:t>
            </a:r>
            <a:r>
              <a:rPr lang="en-GB" sz="800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 by using our App.</a:t>
            </a: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n-GB" sz="800" dirty="0"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E</a:t>
            </a:r>
            <a:r>
              <a:rPr lang="en-GB" sz="800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nd-to-end visibility is ensured from Purchase Order through to the completion and financial reports. </a:t>
            </a: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n-GB" sz="800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The App offers intellectual </a:t>
            </a:r>
            <a:r>
              <a:rPr lang="en-GB" sz="800" dirty="0"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capital</a:t>
            </a:r>
            <a:r>
              <a:rPr lang="en-GB" sz="800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 with IT systems and solutions – continuously upgraded – to ensure ultimate Best Practice services both for motorists and auto industry services providers in Qatar.</a:t>
            </a: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Google Shape;449;p70">
            <a:extLst>
              <a:ext uri="{FF2B5EF4-FFF2-40B4-BE49-F238E27FC236}">
                <a16:creationId xmlns:a16="http://schemas.microsoft.com/office/drawing/2014/main" id="{543D76B9-3875-412A-B604-47CF0D449436}"/>
              </a:ext>
            </a:extLst>
          </p:cNvPr>
          <p:cNvSpPr/>
          <p:nvPr/>
        </p:nvSpPr>
        <p:spPr>
          <a:xfrm>
            <a:off x="4505325" y="552450"/>
            <a:ext cx="4038600" cy="40386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92047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72">
            <a:hlinkClick r:id="rId3"/>
          </p:cNvPr>
          <p:cNvSpPr txBox="1"/>
          <p:nvPr/>
        </p:nvSpPr>
        <p:spPr>
          <a:xfrm>
            <a:off x="447574" y="476250"/>
            <a:ext cx="5049711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chemeClr val="bg2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Traction 2 – Awards, Cetifications</a:t>
            </a:r>
            <a:endParaRPr sz="2800" dirty="0">
              <a:solidFill>
                <a:schemeClr val="bg2"/>
              </a:solidFill>
              <a:latin typeface="Gothic A1 SemiBold"/>
              <a:ea typeface="Gothic A1 SemiBold"/>
              <a:cs typeface="Gothic A1 SemiBold"/>
              <a:sym typeface="Gothic A1 SemiBold"/>
            </a:endParaRPr>
          </a:p>
        </p:txBody>
      </p:sp>
      <p:sp>
        <p:nvSpPr>
          <p:cNvPr id="468" name="Google Shape;468;p72"/>
          <p:cNvSpPr txBox="1"/>
          <p:nvPr/>
        </p:nvSpPr>
        <p:spPr>
          <a:xfrm>
            <a:off x="488525" y="1100224"/>
            <a:ext cx="2378561" cy="2421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800" b="0" i="0" dirty="0">
                <a:solidFill>
                  <a:srgbClr val="201F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▪ </a:t>
            </a:r>
            <a:r>
              <a:rPr lang="en-GB" sz="800" b="1" i="0" dirty="0">
                <a:solidFill>
                  <a:srgbClr val="201F1E"/>
                </a:solidFill>
                <a:effectLst/>
                <a:latin typeface="Barlow" panose="00000500000000000000" pitchFamily="2" charset="0"/>
              </a:rPr>
              <a:t>THEQA</a:t>
            </a:r>
            <a:r>
              <a:rPr lang="en-GB" sz="800" b="0" i="0" dirty="0">
                <a:solidFill>
                  <a:srgbClr val="201F1E"/>
                </a:solidFill>
                <a:effectLst/>
                <a:latin typeface="Barlow" panose="00000500000000000000" pitchFamily="2" charset="0"/>
              </a:rPr>
              <a:t> Award </a:t>
            </a:r>
            <a:r>
              <a:rPr lang="en-GB" sz="800" dirty="0">
                <a:solidFill>
                  <a:srgbClr val="201F1E"/>
                </a:solidFill>
                <a:latin typeface="Barlow" panose="00000500000000000000" pitchFamily="2" charset="0"/>
              </a:rPr>
              <a:t>wa</a:t>
            </a:r>
            <a:r>
              <a:rPr lang="en-GB" sz="800" b="0" i="0" dirty="0">
                <a:solidFill>
                  <a:srgbClr val="201F1E"/>
                </a:solidFill>
                <a:effectLst/>
                <a:latin typeface="Barlow" panose="00000500000000000000" pitchFamily="2" charset="0"/>
              </a:rPr>
              <a:t>s issued to </a:t>
            </a:r>
            <a:r>
              <a:rPr lang="en-GB" sz="800" b="0" i="0" dirty="0" err="1">
                <a:solidFill>
                  <a:srgbClr val="201F1E"/>
                </a:solidFill>
                <a:effectLst/>
                <a:latin typeface="Barlow" panose="00000500000000000000" pitchFamily="2" charset="0"/>
              </a:rPr>
              <a:t>Lumenpath</a:t>
            </a:r>
            <a:r>
              <a:rPr lang="en-GB" sz="800" b="0" i="0" dirty="0">
                <a:solidFill>
                  <a:srgbClr val="201F1E"/>
                </a:solidFill>
                <a:effectLst/>
                <a:latin typeface="Barlow" panose="00000500000000000000" pitchFamily="2" charset="0"/>
              </a:rPr>
              <a:t> by Qatar Chamber of Commerce &amp; Industry in recognition of </a:t>
            </a:r>
            <a:r>
              <a:rPr lang="en-GB" sz="800" dirty="0">
                <a:solidFill>
                  <a:srgbClr val="201F1E"/>
                </a:solidFill>
                <a:latin typeface="Barlow" panose="00000500000000000000" pitchFamily="2" charset="0"/>
              </a:rPr>
              <a:t>the company’s</a:t>
            </a:r>
            <a:r>
              <a:rPr lang="en-GB" sz="800" b="0" i="0" dirty="0">
                <a:solidFill>
                  <a:srgbClr val="201F1E"/>
                </a:solidFill>
                <a:effectLst/>
                <a:latin typeface="Barlow" panose="00000500000000000000" pitchFamily="2" charset="0"/>
              </a:rPr>
              <a:t> pioneering efforts </a:t>
            </a:r>
            <a:r>
              <a:rPr lang="en-GB" sz="800" dirty="0">
                <a:solidFill>
                  <a:srgbClr val="201F1E"/>
                </a:solidFill>
                <a:latin typeface="Barlow" panose="00000500000000000000" pitchFamily="2" charset="0"/>
              </a:rPr>
              <a:t>by the creation of a Digital Marketplace as well as the </a:t>
            </a:r>
            <a:r>
              <a:rPr lang="en-GB" sz="800" b="0" i="0" dirty="0">
                <a:solidFill>
                  <a:srgbClr val="201F1E"/>
                </a:solidFill>
                <a:effectLst/>
                <a:latin typeface="Barlow" panose="00000500000000000000" pitchFamily="2" charset="0"/>
              </a:rPr>
              <a:t>high-quality engagement in building and improving e-Commerce in Qatar.</a:t>
            </a:r>
            <a:endParaRPr lang="en-GB" sz="800" dirty="0">
              <a:latin typeface="Barlow" panose="00000500000000000000" pitchFamily="2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C767B2-E1BE-3770-1A1C-B52796C029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6004" y="1679239"/>
            <a:ext cx="5788058" cy="195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3813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72">
            <a:hlinkClick r:id="rId3"/>
          </p:cNvPr>
          <p:cNvSpPr txBox="1"/>
          <p:nvPr/>
        </p:nvSpPr>
        <p:spPr>
          <a:xfrm>
            <a:off x="447574" y="476250"/>
            <a:ext cx="517489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chemeClr val="bg2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Traction 3 – Customer Testimonials</a:t>
            </a:r>
            <a:endParaRPr sz="2800" dirty="0">
              <a:solidFill>
                <a:schemeClr val="bg2"/>
              </a:solidFill>
              <a:latin typeface="Gothic A1 SemiBold"/>
              <a:ea typeface="Gothic A1 SemiBold"/>
              <a:cs typeface="Gothic A1 SemiBold"/>
              <a:sym typeface="Gothic A1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271725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72">
            <a:hlinkClick r:id="rId3"/>
          </p:cNvPr>
          <p:cNvSpPr txBox="1"/>
          <p:nvPr/>
        </p:nvSpPr>
        <p:spPr>
          <a:xfrm>
            <a:off x="447575" y="476250"/>
            <a:ext cx="4038600" cy="34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FF0000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T</a:t>
            </a:r>
            <a:r>
              <a:rPr lang="en" sz="2000" dirty="0">
                <a:solidFill>
                  <a:schemeClr val="bg2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raction 4 – Financial Position</a:t>
            </a:r>
            <a:endParaRPr sz="2000" dirty="0">
              <a:solidFill>
                <a:schemeClr val="bg2"/>
              </a:solidFill>
              <a:latin typeface="Gothic A1 SemiBold"/>
              <a:ea typeface="Gothic A1 SemiBold"/>
              <a:cs typeface="Gothic A1 SemiBold"/>
              <a:sym typeface="Gothic A1 SemiBold"/>
            </a:endParaRPr>
          </a:p>
        </p:txBody>
      </p:sp>
      <p:sp>
        <p:nvSpPr>
          <p:cNvPr id="468" name="Google Shape;468;p72"/>
          <p:cNvSpPr txBox="1"/>
          <p:nvPr/>
        </p:nvSpPr>
        <p:spPr>
          <a:xfrm>
            <a:off x="447575" y="1017265"/>
            <a:ext cx="3597600" cy="1342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GB" sz="10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 have calculated the potential sales revenue for SAYARATEE in 2022-23 as initial discussions have already been held, and agreements reached with a wide range of various services suppliers.</a:t>
            </a:r>
            <a:endParaRPr lang="en-GB" sz="1000" dirty="0"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Therefore, we have decided to first concentrate on generating proven revenues of QAR 23.904 million in the 1</a:t>
            </a:r>
            <a:r>
              <a:rPr lang="en-GB" sz="1000" baseline="300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</a:t>
            </a:r>
            <a:r>
              <a:rPr lang="en-GB" sz="10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year. In the 2</a:t>
            </a:r>
            <a:r>
              <a:rPr lang="en-GB" sz="1000" baseline="300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nd</a:t>
            </a:r>
            <a:r>
              <a:rPr lang="en-GB" sz="10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year, it will be QAR 50.646 million, and QAR 70 million in the 3</a:t>
            </a:r>
            <a:r>
              <a:rPr lang="en-GB" sz="1000" baseline="300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rd</a:t>
            </a:r>
            <a:r>
              <a:rPr lang="en-GB" sz="10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year.</a:t>
            </a:r>
            <a:endParaRPr lang="en-GB" sz="1000" dirty="0"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b="1" dirty="0">
              <a:solidFill>
                <a:srgbClr val="999999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 dirty="0">
              <a:solidFill>
                <a:srgbClr val="999999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C81C449F-143D-E039-10EC-20B53E3E19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5747753"/>
              </p:ext>
            </p:extLst>
          </p:nvPr>
        </p:nvGraphicFramePr>
        <p:xfrm>
          <a:off x="4773463" y="622341"/>
          <a:ext cx="3113087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5867341" imgH="7658100" progId="Excel.Sheet.12">
                  <p:embed/>
                </p:oleObj>
              </mc:Choice>
              <mc:Fallback>
                <p:oleObj name="Worksheet" r:id="rId4" imgW="5867341" imgH="7658100" progId="Excel.Sheet.12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C81C449F-143D-E039-10EC-20B53E3E19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73463" y="622341"/>
                        <a:ext cx="3113087" cy="406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72">
            <a:hlinkClick r:id="rId3"/>
          </p:cNvPr>
          <p:cNvSpPr txBox="1"/>
          <p:nvPr/>
        </p:nvSpPr>
        <p:spPr>
          <a:xfrm>
            <a:off x="447575" y="476250"/>
            <a:ext cx="4038600" cy="355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FF0000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T</a:t>
            </a:r>
            <a:r>
              <a:rPr lang="en" sz="2000" dirty="0">
                <a:solidFill>
                  <a:schemeClr val="bg2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raction 5 – Comprehensive Income</a:t>
            </a:r>
            <a:endParaRPr sz="2000" dirty="0">
              <a:solidFill>
                <a:schemeClr val="bg2"/>
              </a:solidFill>
              <a:latin typeface="Gothic A1 SemiBold"/>
              <a:ea typeface="Gothic A1 SemiBold"/>
              <a:cs typeface="Gothic A1 SemiBold"/>
              <a:sym typeface="Gothic A1 SemiBold"/>
            </a:endParaRPr>
          </a:p>
        </p:txBody>
      </p:sp>
      <p:sp>
        <p:nvSpPr>
          <p:cNvPr id="468" name="Google Shape;468;p72"/>
          <p:cNvSpPr txBox="1"/>
          <p:nvPr/>
        </p:nvSpPr>
        <p:spPr>
          <a:xfrm>
            <a:off x="447575" y="964540"/>
            <a:ext cx="3597600" cy="1342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GB" sz="10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 have calculated the potential sales revenue for SAYARATEE in 2022-23 as initial discussions have already been held, and agreements reached with a wide range of various services suppliers.</a:t>
            </a:r>
            <a:endParaRPr lang="en-GB" sz="1000" dirty="0"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Therefore, we have decided to first concentrate on generating proven revenues of QAR 23.940 million in the 1</a:t>
            </a:r>
            <a:r>
              <a:rPr lang="en-GB" sz="1000" baseline="300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</a:t>
            </a:r>
            <a:r>
              <a:rPr lang="en-GB" sz="10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year. In the 2</a:t>
            </a:r>
            <a:r>
              <a:rPr lang="en-GB" sz="1000" baseline="300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nd</a:t>
            </a:r>
            <a:r>
              <a:rPr lang="en-GB" sz="10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year, it will be QAR 50.646 million, and QAR 70 million in the 3</a:t>
            </a:r>
            <a:r>
              <a:rPr lang="en-GB" sz="1000" baseline="300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rd</a:t>
            </a:r>
            <a:r>
              <a:rPr lang="en-GB" sz="10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year.</a:t>
            </a:r>
            <a:endParaRPr lang="en-GB" sz="1000" dirty="0"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b="1" dirty="0">
              <a:solidFill>
                <a:srgbClr val="999999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 dirty="0">
              <a:solidFill>
                <a:srgbClr val="999999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7C61857F-60FF-9B1F-7371-51524B70D9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8818509"/>
              </p:ext>
            </p:extLst>
          </p:nvPr>
        </p:nvGraphicFramePr>
        <p:xfrm>
          <a:off x="4753917" y="476250"/>
          <a:ext cx="3433763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5448271" imgH="6448425" progId="Excel.Sheet.12">
                  <p:embed/>
                </p:oleObj>
              </mc:Choice>
              <mc:Fallback>
                <p:oleObj name="Worksheet" r:id="rId4" imgW="5448271" imgH="6448425" progId="Excel.Sheet.12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7C61857F-60FF-9B1F-7371-51524B70D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53917" y="476250"/>
                        <a:ext cx="3433763" cy="406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928006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72">
            <a:hlinkClick r:id="rId3"/>
          </p:cNvPr>
          <p:cNvSpPr txBox="1"/>
          <p:nvPr/>
        </p:nvSpPr>
        <p:spPr>
          <a:xfrm>
            <a:off x="447575" y="476250"/>
            <a:ext cx="4038600" cy="367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FF0000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T</a:t>
            </a:r>
            <a:r>
              <a:rPr lang="en" sz="2000" dirty="0">
                <a:solidFill>
                  <a:schemeClr val="bg2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raction 6 – Cash Flows </a:t>
            </a:r>
            <a:endParaRPr sz="2000" dirty="0">
              <a:solidFill>
                <a:schemeClr val="bg2"/>
              </a:solidFill>
              <a:latin typeface="Gothic A1 SemiBold"/>
              <a:ea typeface="Gothic A1 SemiBold"/>
              <a:cs typeface="Gothic A1 SemiBold"/>
              <a:sym typeface="Gothic A1 SemiBold"/>
            </a:endParaRPr>
          </a:p>
        </p:txBody>
      </p:sp>
      <p:sp>
        <p:nvSpPr>
          <p:cNvPr id="468" name="Google Shape;468;p72"/>
          <p:cNvSpPr txBox="1"/>
          <p:nvPr/>
        </p:nvSpPr>
        <p:spPr>
          <a:xfrm>
            <a:off x="447575" y="1041230"/>
            <a:ext cx="3597600" cy="1342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GB" sz="10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 have calculated the potential sales revenue for SAYARATEE in 2022-23 as initial discussions have already been held, and agreements reached with a wide range of various services suppliers.</a:t>
            </a:r>
            <a:endParaRPr lang="en-GB" sz="1000" dirty="0"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Therefore, we have decided to first concentrate on generating proven revenues of QAR 23.904 million in the 1</a:t>
            </a:r>
            <a:r>
              <a:rPr lang="en-GB" sz="1000" baseline="300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</a:t>
            </a:r>
            <a:r>
              <a:rPr lang="en-GB" sz="10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year. In the 2</a:t>
            </a:r>
            <a:r>
              <a:rPr lang="en-GB" sz="1000" baseline="300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nd</a:t>
            </a:r>
            <a:r>
              <a:rPr lang="en-GB" sz="10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year, it will be QAR 50.646 million, and QAR 70 million in the 3</a:t>
            </a:r>
            <a:r>
              <a:rPr lang="en-GB" sz="1000" baseline="300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rd</a:t>
            </a:r>
            <a:r>
              <a:rPr lang="en-GB" sz="10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year.</a:t>
            </a:r>
            <a:endParaRPr lang="en-GB" sz="1000" dirty="0"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b="1" dirty="0">
              <a:solidFill>
                <a:srgbClr val="999999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 dirty="0">
              <a:solidFill>
                <a:srgbClr val="999999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AFFCD25-AA4B-7C1F-5D65-98951F41DE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9709158"/>
              </p:ext>
            </p:extLst>
          </p:nvPr>
        </p:nvGraphicFramePr>
        <p:xfrm>
          <a:off x="5025146" y="476250"/>
          <a:ext cx="2693987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5248444" imgH="7915275" progId="Excel.Sheet.12">
                  <p:embed/>
                </p:oleObj>
              </mc:Choice>
              <mc:Fallback>
                <p:oleObj name="Worksheet" r:id="rId4" imgW="5248444" imgH="7915275" progId="Excel.Sheet.12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9AFFCD25-AA4B-7C1F-5D65-98951F41DE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25146" y="476250"/>
                        <a:ext cx="2693987" cy="406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748386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72">
            <a:hlinkClick r:id="rId3"/>
          </p:cNvPr>
          <p:cNvSpPr txBox="1"/>
          <p:nvPr/>
        </p:nvSpPr>
        <p:spPr>
          <a:xfrm>
            <a:off x="442132" y="476249"/>
            <a:ext cx="3597600" cy="34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FF0000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T</a:t>
            </a:r>
            <a:r>
              <a:rPr lang="en" sz="2000" dirty="0">
                <a:solidFill>
                  <a:schemeClr val="bg2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raction 7 – Changes in Equity</a:t>
            </a:r>
            <a:endParaRPr sz="2000" dirty="0">
              <a:solidFill>
                <a:schemeClr val="bg2"/>
              </a:solidFill>
              <a:latin typeface="Gothic A1 SemiBold"/>
              <a:ea typeface="Gothic A1 SemiBold"/>
              <a:cs typeface="Gothic A1 SemiBold"/>
              <a:sym typeface="Gothic A1 SemiBold"/>
            </a:endParaRPr>
          </a:p>
        </p:txBody>
      </p:sp>
      <p:sp>
        <p:nvSpPr>
          <p:cNvPr id="468" name="Google Shape;468;p72"/>
          <p:cNvSpPr txBox="1"/>
          <p:nvPr/>
        </p:nvSpPr>
        <p:spPr>
          <a:xfrm>
            <a:off x="488525" y="985001"/>
            <a:ext cx="3597600" cy="1342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GB" sz="10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 have calculated the potential sales revenue for SAYARATEE in 2022-23 as initial discussions have already been held, and agreements reached with a wide range of various services suppliers.</a:t>
            </a:r>
            <a:endParaRPr lang="en-GB" sz="1000" dirty="0"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GB" sz="10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Therefore, we have decided to first concentrate on generating proven revenues of QAR 23.904 million in the 1</a:t>
            </a:r>
            <a:r>
              <a:rPr lang="en-GB" sz="1000" baseline="300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</a:t>
            </a:r>
            <a:r>
              <a:rPr lang="en-GB" sz="10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year. In the 2</a:t>
            </a:r>
            <a:r>
              <a:rPr lang="en-GB" sz="1000" baseline="300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nd</a:t>
            </a:r>
            <a:r>
              <a:rPr lang="en-GB" sz="10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year, it will be QAR 50.646 million, and QAR 70 million in the 3</a:t>
            </a:r>
            <a:r>
              <a:rPr lang="en-GB" sz="1000" baseline="300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rd</a:t>
            </a:r>
            <a:r>
              <a:rPr lang="en-GB" sz="10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year.</a:t>
            </a:r>
            <a:endParaRPr lang="en-GB" sz="1000" dirty="0"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b="1" dirty="0">
              <a:solidFill>
                <a:srgbClr val="999999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 dirty="0">
              <a:solidFill>
                <a:srgbClr val="999999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DCACC0C4-F585-48E8-22DD-2D942D86F3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8363098"/>
              </p:ext>
            </p:extLst>
          </p:nvPr>
        </p:nvGraphicFramePr>
        <p:xfrm>
          <a:off x="4198567" y="684324"/>
          <a:ext cx="4456908" cy="385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6858000" imgH="5934075" progId="Excel.Sheet.12">
                  <p:embed/>
                </p:oleObj>
              </mc:Choice>
              <mc:Fallback>
                <p:oleObj name="Worksheet" r:id="rId4" imgW="6858000" imgH="5934075" progId="Excel.Sheet.12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DCACC0C4-F585-48E8-22DD-2D942D86F3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98567" y="684324"/>
                        <a:ext cx="4456908" cy="385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763789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72">
            <a:hlinkClick r:id="rId3"/>
          </p:cNvPr>
          <p:cNvSpPr txBox="1"/>
          <p:nvPr/>
        </p:nvSpPr>
        <p:spPr>
          <a:xfrm>
            <a:off x="447574" y="476250"/>
            <a:ext cx="45435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rgbClr val="FF0000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T</a:t>
            </a:r>
            <a:r>
              <a:rPr lang="en" sz="3200" dirty="0">
                <a:solidFill>
                  <a:schemeClr val="bg2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raction 8 – User Increase</a:t>
            </a:r>
            <a:endParaRPr sz="3200" dirty="0">
              <a:solidFill>
                <a:schemeClr val="bg2"/>
              </a:solidFill>
              <a:latin typeface="Gothic A1 SemiBold"/>
              <a:ea typeface="Gothic A1 SemiBold"/>
              <a:cs typeface="Gothic A1 SemiBold"/>
              <a:sym typeface="Gothic A1 SemiBold"/>
            </a:endParaRPr>
          </a:p>
        </p:txBody>
      </p:sp>
      <p:sp>
        <p:nvSpPr>
          <p:cNvPr id="468" name="Google Shape;468;p72"/>
          <p:cNvSpPr txBox="1"/>
          <p:nvPr/>
        </p:nvSpPr>
        <p:spPr>
          <a:xfrm>
            <a:off x="488524" y="1100225"/>
            <a:ext cx="3806205" cy="1348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▪ </a:t>
            </a:r>
            <a:r>
              <a:rPr lang="en-GB" sz="800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1,000,000 cars, and </a:t>
            </a:r>
            <a:r>
              <a:rPr lang="en-GB" sz="800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50,000 new vehicles in addition every year</a:t>
            </a:r>
          </a:p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▪ </a:t>
            </a:r>
            <a:r>
              <a:rPr lang="en-GB" sz="800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QAR 6,000 is spent on a car annually</a:t>
            </a:r>
            <a:endParaRPr lang="en-GB" sz="800" dirty="0">
              <a:latin typeface="Barlow" panose="00000500000000000000" pitchFamily="2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8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▪ </a:t>
            </a:r>
            <a:r>
              <a:rPr lang="en-GB" sz="800" dirty="0"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First-ever </a:t>
            </a:r>
            <a:r>
              <a:rPr lang="en-GB" sz="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mobile App </a:t>
            </a:r>
            <a:r>
              <a:rPr lang="en-GB" sz="800" dirty="0"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n-GB" sz="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 connect motorists and automotive services providers</a:t>
            </a:r>
            <a:endParaRPr lang="en-GB" sz="800" dirty="0">
              <a:latin typeface="Barlow" panose="00000500000000000000" pitchFamily="2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800" dirty="0"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▪ </a:t>
            </a:r>
            <a:r>
              <a:rPr lang="en-GB" sz="800" b="1" dirty="0"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W</a:t>
            </a:r>
            <a:r>
              <a:rPr lang="en-GB" sz="800" b="1" dirty="0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eekly </a:t>
            </a:r>
            <a:r>
              <a:rPr lang="en-GB" sz="800" b="1" dirty="0"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R</a:t>
            </a:r>
            <a:r>
              <a:rPr lang="en-GB" sz="800" b="1" dirty="0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evenue </a:t>
            </a:r>
            <a:r>
              <a:rPr lang="en-GB" sz="800" b="1" dirty="0"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G</a:t>
            </a:r>
            <a:r>
              <a:rPr lang="en-GB" sz="800" b="1" dirty="0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rowth</a:t>
            </a:r>
            <a:r>
              <a:rPr lang="en-GB" sz="800" dirty="0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 rate </a:t>
            </a:r>
            <a:r>
              <a:rPr lang="en-GB" sz="800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of 5% translating to 12.6% in a year, </a:t>
            </a:r>
            <a:endParaRPr lang="en-GB" sz="800" dirty="0">
              <a:latin typeface="Barlow" panose="00000500000000000000" pitchFamily="2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800" dirty="0"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▪ </a:t>
            </a:r>
            <a:r>
              <a:rPr lang="en-GB" sz="800" dirty="0">
                <a:solidFill>
                  <a:srgbClr val="3C3F44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No need for a massive sales and marketing, </a:t>
            </a:r>
            <a:r>
              <a:rPr lang="en-GB" sz="800" dirty="0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customer acquisition </a:t>
            </a:r>
            <a:r>
              <a:rPr lang="en-GB" sz="800" dirty="0">
                <a:solidFill>
                  <a:srgbClr val="3C3F44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budget</a:t>
            </a:r>
            <a:r>
              <a:rPr lang="en-GB" sz="800" dirty="0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,</a:t>
            </a:r>
          </a:p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800" dirty="0"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▪ </a:t>
            </a:r>
            <a:r>
              <a:rPr lang="en-GB" sz="800" b="1" dirty="0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Strong customer lifetime value</a:t>
            </a:r>
            <a:r>
              <a:rPr lang="en-GB" sz="800" b="1" dirty="0"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,</a:t>
            </a:r>
          </a:p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GB" sz="800" dirty="0"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▪ Remarkable</a:t>
            </a:r>
            <a:r>
              <a:rPr lang="en-GB" sz="800" dirty="0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 average customer’s annual profit contribution,</a:t>
            </a:r>
          </a:p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endParaRPr lang="en-GB" sz="9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endParaRPr lang="en-GB" sz="800" b="1" dirty="0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800" b="1" dirty="0">
              <a:solidFill>
                <a:srgbClr val="999999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 dirty="0">
              <a:solidFill>
                <a:srgbClr val="999999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</p:spTree>
    <p:extLst>
      <p:ext uri="{BB962C8B-B14F-4D97-AF65-F5344CB8AC3E}">
        <p14:creationId xmlns:p14="http://schemas.microsoft.com/office/powerpoint/2010/main" val="11926581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74">
            <a:hlinkClick r:id="rId3"/>
          </p:cNvPr>
          <p:cNvSpPr txBox="1"/>
          <p:nvPr/>
        </p:nvSpPr>
        <p:spPr>
          <a:xfrm>
            <a:off x="447575" y="476250"/>
            <a:ext cx="40386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dirty="0">
                <a:solidFill>
                  <a:srgbClr val="FF0000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Business Model 1</a:t>
            </a:r>
            <a:endParaRPr sz="3400" dirty="0">
              <a:solidFill>
                <a:srgbClr val="FF0000"/>
              </a:solidFill>
              <a:latin typeface="Gothic A1 SemiBold"/>
              <a:ea typeface="Gothic A1 SemiBold"/>
              <a:cs typeface="Gothic A1 SemiBold"/>
              <a:sym typeface="Gothic A1 SemiBold"/>
            </a:endParaRPr>
          </a:p>
        </p:txBody>
      </p:sp>
      <p:sp>
        <p:nvSpPr>
          <p:cNvPr id="488" name="Google Shape;488;p74"/>
          <p:cNvSpPr txBox="1"/>
          <p:nvPr/>
        </p:nvSpPr>
        <p:spPr>
          <a:xfrm>
            <a:off x="600075" y="1214273"/>
            <a:ext cx="3597600" cy="815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ts val="2100"/>
              </a:lnSpc>
              <a:spcAft>
                <a:spcPts val="800"/>
              </a:spcAft>
            </a:pPr>
            <a:r>
              <a:rPr lang="en-GB" sz="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revenue model</a:t>
            </a:r>
            <a:r>
              <a:rPr lang="en-GB" sz="800" b="1" dirty="0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GB" sz="800" dirty="0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change how revenue is generated through new value propositions and new pricing models (to take advantage of economies of scale)</a:t>
            </a: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endParaRPr lang="en-GB" sz="800" dirty="0">
              <a:solidFill>
                <a:schemeClr val="tx1"/>
              </a:solidFill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endParaRPr lang="en-GB" sz="800" dirty="0">
              <a:solidFill>
                <a:schemeClr val="tx1"/>
              </a:solidFill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GB" sz="800" dirty="0">
              <a:latin typeface="Barlow" panose="00000500000000000000" pitchFamily="2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 b="1" dirty="0">
              <a:solidFill>
                <a:srgbClr val="999999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9DAC6B-697A-7E0C-4BE9-8CB78958CF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2346" y="2218068"/>
            <a:ext cx="2884508" cy="2884508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69000"/>
              </a:srgbClr>
            </a:outerShdw>
          </a:effectLst>
        </p:spPr>
      </p:pic>
      <p:pic>
        <p:nvPicPr>
          <p:cNvPr id="5122" name="Picture 2" descr="Business Model Brain Snack: Revenue Models and Pricing Strategies -  inteGRIDy Business Modelling Tool">
            <a:extLst>
              <a:ext uri="{FF2B5EF4-FFF2-40B4-BE49-F238E27FC236}">
                <a16:creationId xmlns:a16="http://schemas.microsoft.com/office/drawing/2014/main" id="{23EF30A6-EB1C-46CD-BBCE-9E8B0C078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327" y="893255"/>
            <a:ext cx="3683938" cy="2154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9C390C7-A01E-EC7E-9058-0AA78DB2BD01}"/>
              </a:ext>
            </a:extLst>
          </p:cNvPr>
          <p:cNvSpPr txBox="1"/>
          <p:nvPr/>
        </p:nvSpPr>
        <p:spPr>
          <a:xfrm>
            <a:off x="5858059" y="3147557"/>
            <a:ext cx="22367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Rene </a:t>
            </a:r>
            <a:r>
              <a:rPr lang="en-GB" sz="800" dirty="0" err="1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Bohnsack’s</a:t>
            </a:r>
            <a:r>
              <a:rPr lang="en-GB" sz="800" dirty="0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smart business model</a:t>
            </a:r>
            <a:endParaRPr lang="en-GB" sz="800" dirty="0"/>
          </a:p>
        </p:txBody>
      </p:sp>
    </p:spTree>
    <p:extLst>
      <p:ext uri="{BB962C8B-B14F-4D97-AF65-F5344CB8AC3E}">
        <p14:creationId xmlns:p14="http://schemas.microsoft.com/office/powerpoint/2010/main" val="36234003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74">
            <a:hlinkClick r:id="rId3"/>
          </p:cNvPr>
          <p:cNvSpPr txBox="1"/>
          <p:nvPr/>
        </p:nvSpPr>
        <p:spPr>
          <a:xfrm>
            <a:off x="447575" y="476250"/>
            <a:ext cx="40386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dirty="0">
                <a:solidFill>
                  <a:srgbClr val="FF0000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Business Model 1</a:t>
            </a:r>
            <a:endParaRPr sz="3400" dirty="0">
              <a:solidFill>
                <a:srgbClr val="FF0000"/>
              </a:solidFill>
              <a:latin typeface="Gothic A1 SemiBold"/>
              <a:ea typeface="Gothic A1 SemiBold"/>
              <a:cs typeface="Gothic A1 SemiBold"/>
              <a:sym typeface="Gothic A1 SemiBold"/>
            </a:endParaRPr>
          </a:p>
        </p:txBody>
      </p:sp>
      <p:sp>
        <p:nvSpPr>
          <p:cNvPr id="488" name="Google Shape;488;p74"/>
          <p:cNvSpPr txBox="1"/>
          <p:nvPr/>
        </p:nvSpPr>
        <p:spPr>
          <a:xfrm>
            <a:off x="600075" y="1214273"/>
            <a:ext cx="3597600" cy="815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ts val="2100"/>
              </a:lnSpc>
              <a:spcAft>
                <a:spcPts val="800"/>
              </a:spcAft>
            </a:pPr>
            <a:r>
              <a:rPr lang="en-GB" sz="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pricing model</a:t>
            </a:r>
            <a:r>
              <a:rPr lang="en-GB" sz="800" b="1" dirty="0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GB" sz="800" dirty="0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change how revenue is generated through new value propositions and new pricing models (to take advantage of economies of scale)</a:t>
            </a: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endParaRPr lang="en-GB" sz="800" dirty="0">
              <a:solidFill>
                <a:schemeClr val="tx1"/>
              </a:solidFill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endParaRPr lang="en-GB" sz="800" dirty="0">
              <a:solidFill>
                <a:schemeClr val="tx1"/>
              </a:solidFill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GB" sz="800" dirty="0">
              <a:latin typeface="Barlow" panose="00000500000000000000" pitchFamily="2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 b="1" dirty="0">
              <a:solidFill>
                <a:srgbClr val="999999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9DAC6B-697A-7E0C-4BE9-8CB78958CF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2346" y="2218068"/>
            <a:ext cx="2884508" cy="2884508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69000"/>
              </a:srgbClr>
            </a:outerShdw>
          </a:effectLst>
        </p:spPr>
      </p:pic>
      <p:pic>
        <p:nvPicPr>
          <p:cNvPr id="5122" name="Picture 2" descr="Business Model Brain Snack: Revenue Models and Pricing Strategies -  inteGRIDy Business Modelling Tool">
            <a:extLst>
              <a:ext uri="{FF2B5EF4-FFF2-40B4-BE49-F238E27FC236}">
                <a16:creationId xmlns:a16="http://schemas.microsoft.com/office/drawing/2014/main" id="{23EF30A6-EB1C-46CD-BBCE-9E8B0C078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327" y="893255"/>
            <a:ext cx="3683938" cy="2154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9C390C7-A01E-EC7E-9058-0AA78DB2BD01}"/>
              </a:ext>
            </a:extLst>
          </p:cNvPr>
          <p:cNvSpPr txBox="1"/>
          <p:nvPr/>
        </p:nvSpPr>
        <p:spPr>
          <a:xfrm>
            <a:off x="5858059" y="3147557"/>
            <a:ext cx="22367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Rene </a:t>
            </a:r>
            <a:r>
              <a:rPr lang="en-GB" sz="800" dirty="0" err="1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Bohnsack’s</a:t>
            </a:r>
            <a:r>
              <a:rPr lang="en-GB" sz="800" dirty="0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smart business model</a:t>
            </a:r>
            <a:endParaRPr lang="en-GB" sz="800" dirty="0"/>
          </a:p>
        </p:txBody>
      </p:sp>
    </p:spTree>
    <p:extLst>
      <p:ext uri="{BB962C8B-B14F-4D97-AF65-F5344CB8AC3E}">
        <p14:creationId xmlns:p14="http://schemas.microsoft.com/office/powerpoint/2010/main" val="33880947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74">
            <a:hlinkClick r:id="rId3"/>
          </p:cNvPr>
          <p:cNvSpPr txBox="1"/>
          <p:nvPr/>
        </p:nvSpPr>
        <p:spPr>
          <a:xfrm>
            <a:off x="447575" y="476250"/>
            <a:ext cx="40386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dirty="0">
                <a:solidFill>
                  <a:srgbClr val="FF0000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Business Model 1</a:t>
            </a:r>
            <a:endParaRPr sz="3400" dirty="0">
              <a:solidFill>
                <a:srgbClr val="FF0000"/>
              </a:solidFill>
              <a:latin typeface="Gothic A1 SemiBold"/>
              <a:ea typeface="Gothic A1 SemiBold"/>
              <a:cs typeface="Gothic A1 SemiBold"/>
              <a:sym typeface="Gothic A1 SemiBold"/>
            </a:endParaRPr>
          </a:p>
        </p:txBody>
      </p:sp>
      <p:sp>
        <p:nvSpPr>
          <p:cNvPr id="488" name="Google Shape;488;p74"/>
          <p:cNvSpPr txBox="1"/>
          <p:nvPr/>
        </p:nvSpPr>
        <p:spPr>
          <a:xfrm>
            <a:off x="600075" y="1214273"/>
            <a:ext cx="3597600" cy="708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ts val="2100"/>
              </a:lnSpc>
              <a:spcAft>
                <a:spcPts val="800"/>
              </a:spcAft>
            </a:pPr>
            <a:r>
              <a:rPr lang="en-GB" sz="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enterprise model</a:t>
            </a:r>
            <a:r>
              <a:rPr lang="en-GB" sz="800" b="1" dirty="0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GB" sz="800" dirty="0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specialize and configure the business to deliver greater value by rethinking what is done in-house and through collaboration</a:t>
            </a: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endParaRPr lang="en-GB" sz="800" dirty="0">
              <a:solidFill>
                <a:schemeClr val="tx1"/>
              </a:solidFill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endParaRPr lang="en-GB" sz="800" dirty="0">
              <a:solidFill>
                <a:schemeClr val="tx1"/>
              </a:solidFill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GB" sz="800" dirty="0">
              <a:latin typeface="Barlow" panose="00000500000000000000" pitchFamily="2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 b="1" dirty="0">
              <a:solidFill>
                <a:srgbClr val="999999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9DAC6B-697A-7E0C-4BE9-8CB78958CF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2346" y="2218068"/>
            <a:ext cx="2884508" cy="2884508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69000"/>
              </a:srgbClr>
            </a:outerShdw>
          </a:effectLst>
        </p:spPr>
      </p:pic>
      <p:pic>
        <p:nvPicPr>
          <p:cNvPr id="5122" name="Picture 2" descr="Business Model Brain Snack: Revenue Models and Pricing Strategies -  inteGRIDy Business Modelling Tool">
            <a:extLst>
              <a:ext uri="{FF2B5EF4-FFF2-40B4-BE49-F238E27FC236}">
                <a16:creationId xmlns:a16="http://schemas.microsoft.com/office/drawing/2014/main" id="{23EF30A6-EB1C-46CD-BBCE-9E8B0C078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327" y="893255"/>
            <a:ext cx="3683938" cy="2154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9C390C7-A01E-EC7E-9058-0AA78DB2BD01}"/>
              </a:ext>
            </a:extLst>
          </p:cNvPr>
          <p:cNvSpPr txBox="1"/>
          <p:nvPr/>
        </p:nvSpPr>
        <p:spPr>
          <a:xfrm>
            <a:off x="5858059" y="3147557"/>
            <a:ext cx="22367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Rene </a:t>
            </a:r>
            <a:r>
              <a:rPr lang="en-GB" sz="800" dirty="0" err="1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Bohnsack’s</a:t>
            </a:r>
            <a:r>
              <a:rPr lang="en-GB" sz="800" dirty="0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smart business model</a:t>
            </a:r>
            <a:endParaRPr lang="en-GB" sz="800" dirty="0"/>
          </a:p>
        </p:txBody>
      </p:sp>
    </p:spTree>
    <p:extLst>
      <p:ext uri="{BB962C8B-B14F-4D97-AF65-F5344CB8AC3E}">
        <p14:creationId xmlns:p14="http://schemas.microsoft.com/office/powerpoint/2010/main" val="12659287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74">
            <a:hlinkClick r:id="rId3"/>
          </p:cNvPr>
          <p:cNvSpPr txBox="1"/>
          <p:nvPr/>
        </p:nvSpPr>
        <p:spPr>
          <a:xfrm>
            <a:off x="447575" y="476250"/>
            <a:ext cx="40386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dirty="0">
                <a:solidFill>
                  <a:srgbClr val="FF0000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Business Model 1</a:t>
            </a:r>
            <a:endParaRPr sz="3400" dirty="0">
              <a:solidFill>
                <a:srgbClr val="FF0000"/>
              </a:solidFill>
              <a:latin typeface="Gothic A1 SemiBold"/>
              <a:ea typeface="Gothic A1 SemiBold"/>
              <a:cs typeface="Gothic A1 SemiBold"/>
              <a:sym typeface="Gothic A1 SemiBold"/>
            </a:endParaRPr>
          </a:p>
        </p:txBody>
      </p:sp>
      <p:sp>
        <p:nvSpPr>
          <p:cNvPr id="488" name="Google Shape;488;p74"/>
          <p:cNvSpPr txBox="1"/>
          <p:nvPr/>
        </p:nvSpPr>
        <p:spPr>
          <a:xfrm>
            <a:off x="600075" y="1214273"/>
            <a:ext cx="3597600" cy="61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ts val="2100"/>
              </a:lnSpc>
              <a:spcAft>
                <a:spcPts val="800"/>
              </a:spcAft>
            </a:pPr>
            <a:r>
              <a:rPr lang="en-GB" sz="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industry model</a:t>
            </a:r>
            <a:r>
              <a:rPr lang="en-GB" sz="800" b="1" dirty="0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GB" sz="800" dirty="0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redefine an existing industry, move into a new industry or create a new industry</a:t>
            </a: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endParaRPr lang="en-GB" sz="800" dirty="0">
              <a:solidFill>
                <a:schemeClr val="tx1"/>
              </a:solidFill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endParaRPr lang="en-GB" sz="800" dirty="0">
              <a:solidFill>
                <a:schemeClr val="tx1"/>
              </a:solidFill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GB" sz="800" dirty="0">
              <a:latin typeface="Barlow" panose="00000500000000000000" pitchFamily="2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 b="1" dirty="0">
              <a:solidFill>
                <a:srgbClr val="999999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9DAC6B-697A-7E0C-4BE9-8CB78958CF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2346" y="2218068"/>
            <a:ext cx="2884508" cy="2884508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69000"/>
              </a:srgbClr>
            </a:outerShdw>
          </a:effectLst>
        </p:spPr>
      </p:pic>
      <p:pic>
        <p:nvPicPr>
          <p:cNvPr id="5122" name="Picture 2" descr="Business Model Brain Snack: Revenue Models and Pricing Strategies -  inteGRIDy Business Modelling Tool">
            <a:extLst>
              <a:ext uri="{FF2B5EF4-FFF2-40B4-BE49-F238E27FC236}">
                <a16:creationId xmlns:a16="http://schemas.microsoft.com/office/drawing/2014/main" id="{23EF30A6-EB1C-46CD-BBCE-9E8B0C078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327" y="893255"/>
            <a:ext cx="3683938" cy="2154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9C390C7-A01E-EC7E-9058-0AA78DB2BD01}"/>
              </a:ext>
            </a:extLst>
          </p:cNvPr>
          <p:cNvSpPr txBox="1"/>
          <p:nvPr/>
        </p:nvSpPr>
        <p:spPr>
          <a:xfrm>
            <a:off x="5858059" y="3147557"/>
            <a:ext cx="22367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Rene </a:t>
            </a:r>
            <a:r>
              <a:rPr lang="en-GB" sz="800" dirty="0" err="1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Bohnsack’s</a:t>
            </a:r>
            <a:r>
              <a:rPr lang="en-GB" sz="800" dirty="0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smart business model</a:t>
            </a:r>
            <a:endParaRPr lang="en-GB" sz="800" dirty="0"/>
          </a:p>
        </p:txBody>
      </p:sp>
    </p:spTree>
    <p:extLst>
      <p:ext uri="{BB962C8B-B14F-4D97-AF65-F5344CB8AC3E}">
        <p14:creationId xmlns:p14="http://schemas.microsoft.com/office/powerpoint/2010/main" val="39168420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74">
            <a:hlinkClick r:id="rId3"/>
          </p:cNvPr>
          <p:cNvSpPr txBox="1"/>
          <p:nvPr/>
        </p:nvSpPr>
        <p:spPr>
          <a:xfrm>
            <a:off x="447575" y="476250"/>
            <a:ext cx="40386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dirty="0">
                <a:solidFill>
                  <a:srgbClr val="FF0000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Business Model 7</a:t>
            </a:r>
            <a:endParaRPr sz="3400" dirty="0">
              <a:solidFill>
                <a:srgbClr val="FF0000"/>
              </a:solidFill>
              <a:latin typeface="Gothic A1 SemiBold"/>
              <a:ea typeface="Gothic A1 SemiBold"/>
              <a:cs typeface="Gothic A1 SemiBold"/>
              <a:sym typeface="Gothic A1 SemiBold"/>
            </a:endParaRPr>
          </a:p>
        </p:txBody>
      </p:sp>
      <p:sp>
        <p:nvSpPr>
          <p:cNvPr id="488" name="Google Shape;488;p74"/>
          <p:cNvSpPr txBox="1"/>
          <p:nvPr/>
        </p:nvSpPr>
        <p:spPr>
          <a:xfrm>
            <a:off x="541619" y="1187059"/>
            <a:ext cx="3856210" cy="1874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120"/>
              </a:spcAft>
            </a:pPr>
            <a:r>
              <a:rPr lang="en-GB" sz="800" b="1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Revenue streams</a:t>
            </a: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The way a company makes income from each customer segment. Several ways to generate a revenue stream:</a:t>
            </a: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120"/>
              </a:spcAft>
            </a:pPr>
            <a:r>
              <a:rPr lang="en-GB" sz="800" u="sng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○ Asset sale </a:t>
            </a: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Selling ownership rights to physical goods: e.g., retail corporations.</a:t>
            </a: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lnSpc>
                <a:spcPct val="107000"/>
              </a:lnSpc>
              <a:spcAft>
                <a:spcPts val="120"/>
              </a:spcAft>
            </a:pP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○ </a:t>
            </a:r>
            <a:r>
              <a:rPr lang="en-GB" sz="800" u="sng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Usage fee </a:t>
            </a: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Money generated from the use of a particular service: UPS.</a:t>
            </a: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120"/>
              </a:spcAft>
            </a:pP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○ </a:t>
            </a:r>
            <a:r>
              <a:rPr lang="en-GB" sz="800" u="sng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Subscription fees </a:t>
            </a: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Revenue generated by selling access to a continuous service: e.g., Netflix.</a:t>
            </a: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lnSpc>
                <a:spcPct val="107000"/>
              </a:lnSpc>
              <a:spcAft>
                <a:spcPts val="120"/>
              </a:spcAft>
            </a:pP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○ </a:t>
            </a:r>
            <a:r>
              <a:rPr lang="en-GB" sz="800" u="sng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Lending/leasing/renting </a:t>
            </a: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Rights to an asset for a period: car leasing</a:t>
            </a: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120"/>
              </a:spcAft>
            </a:pP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○ </a:t>
            </a:r>
            <a:r>
              <a:rPr lang="en-GB" sz="800" u="sng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Licensing</a:t>
            </a: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Revenue generated from charging for the use of a protected intellectual property.</a:t>
            </a: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120"/>
              </a:spcAft>
            </a:pP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○ </a:t>
            </a:r>
            <a:r>
              <a:rPr lang="en-GB" sz="800" u="sng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Brokerage fees </a:t>
            </a: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Revenue generated from an intermediate service between 2 parties: e.g., broker selling a house for commission.</a:t>
            </a: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lnSpc>
                <a:spcPct val="107000"/>
              </a:lnSpc>
              <a:spcAft>
                <a:spcPts val="120"/>
              </a:spcAft>
            </a:pP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○ </a:t>
            </a:r>
            <a:r>
              <a:rPr lang="en-GB" sz="800" u="sng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Advertising</a:t>
            </a: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GB" sz="800" dirty="0">
                <a:solidFill>
                  <a:srgbClr val="202122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enerated from charging fees for product advertising.</a:t>
            </a: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endParaRPr lang="en-GB" sz="800" dirty="0">
              <a:solidFill>
                <a:schemeClr val="tx1"/>
              </a:solidFill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GB" sz="800" dirty="0">
              <a:latin typeface="Barlow" panose="00000500000000000000" pitchFamily="2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 b="1" dirty="0">
              <a:solidFill>
                <a:srgbClr val="999999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DF13EF-52A4-33AA-B146-82DDD68A5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8913" y="-297578"/>
            <a:ext cx="5854200" cy="585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7055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74">
            <a:hlinkClick r:id="rId3"/>
          </p:cNvPr>
          <p:cNvSpPr txBox="1"/>
          <p:nvPr/>
        </p:nvSpPr>
        <p:spPr>
          <a:xfrm>
            <a:off x="447575" y="476250"/>
            <a:ext cx="40386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dirty="0">
                <a:solidFill>
                  <a:srgbClr val="FF0000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Business Model 1</a:t>
            </a:r>
            <a:endParaRPr sz="3400" dirty="0">
              <a:solidFill>
                <a:srgbClr val="FF0000"/>
              </a:solidFill>
              <a:latin typeface="Gothic A1 SemiBold"/>
              <a:ea typeface="Gothic A1 SemiBold"/>
              <a:cs typeface="Gothic A1 SemiBold"/>
              <a:sym typeface="Gothic A1 SemiBold"/>
            </a:endParaRPr>
          </a:p>
        </p:txBody>
      </p:sp>
      <p:sp>
        <p:nvSpPr>
          <p:cNvPr id="488" name="Google Shape;488;p74"/>
          <p:cNvSpPr txBox="1"/>
          <p:nvPr/>
        </p:nvSpPr>
        <p:spPr>
          <a:xfrm>
            <a:off x="541619" y="1187058"/>
            <a:ext cx="3597600" cy="2024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800" dirty="0">
                <a:solidFill>
                  <a:srgbClr val="FF0000"/>
                </a:solidFill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it is important </a:t>
            </a:r>
            <a:r>
              <a:rPr lang="en-GB" sz="800" b="1" u="sng" dirty="0">
                <a:solidFill>
                  <a:srgbClr val="FF0000"/>
                </a:solidFill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to start with the end in mind. This means thinking about the direction in which you want your business to grow </a:t>
            </a:r>
            <a:r>
              <a:rPr lang="en-GB" sz="800" u="sng" dirty="0">
                <a:solidFill>
                  <a:srgbClr val="FF0000"/>
                </a:solidFill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and how to put all the right pieces in place to make this possible</a:t>
            </a:r>
            <a:endParaRPr lang="en-GB" sz="800" u="sng" dirty="0">
              <a:solidFill>
                <a:schemeClr val="tx1"/>
              </a:solidFill>
              <a:effectLst/>
              <a:highlight>
                <a:srgbClr val="FFFF00"/>
              </a:highlight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"/>
              </a:spcAft>
            </a:pPr>
            <a:r>
              <a:rPr lang="en-GB" sz="800" b="1" i="1" u="sng" dirty="0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Infrastructure</a:t>
            </a:r>
          </a:p>
          <a:p>
            <a:pPr>
              <a:lnSpc>
                <a:spcPct val="107000"/>
              </a:lnSpc>
              <a:spcAft>
                <a:spcPts val="120"/>
              </a:spcAft>
            </a:pP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"/>
              </a:spcAft>
            </a:pPr>
            <a:r>
              <a:rPr lang="en-GB" sz="800" b="1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Key activities</a:t>
            </a: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creating  a highly efficient value chain via operating the </a:t>
            </a:r>
            <a:r>
              <a:rPr lang="en-GB" sz="800" dirty="0">
                <a:solidFill>
                  <a:srgbClr val="202122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single-window </a:t>
            </a: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mobile App both for motorists and services providers to drive costs down, improve efficiency, boost revenue.</a:t>
            </a:r>
          </a:p>
          <a:p>
            <a:pPr>
              <a:lnSpc>
                <a:spcPct val="107000"/>
              </a:lnSpc>
              <a:spcAft>
                <a:spcPts val="120"/>
              </a:spcAft>
            </a:pP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"/>
              </a:spcAft>
            </a:pPr>
            <a:r>
              <a:rPr lang="en-GB" sz="800" b="1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Key resources</a:t>
            </a: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human, financial, physical, and intellectual/software.</a:t>
            </a:r>
          </a:p>
          <a:p>
            <a:pPr>
              <a:lnSpc>
                <a:spcPct val="107000"/>
              </a:lnSpc>
              <a:spcAft>
                <a:spcPts val="120"/>
              </a:spcAft>
            </a:pP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"/>
              </a:spcAft>
            </a:pPr>
            <a:r>
              <a:rPr lang="en-GB" sz="800" b="1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Key Partners/Partner Network</a:t>
            </a: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automotive services suppliers, related financial organisations, manufacturers, logistics, government entities.</a:t>
            </a: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endParaRPr lang="en-GB" sz="800" dirty="0">
              <a:solidFill>
                <a:schemeClr val="tx1"/>
              </a:solidFill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endParaRPr lang="en-GB" sz="800" dirty="0">
              <a:solidFill>
                <a:schemeClr val="tx1"/>
              </a:solidFill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GB" sz="800" dirty="0">
              <a:latin typeface="Barlow" panose="00000500000000000000" pitchFamily="2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 b="1" dirty="0">
              <a:solidFill>
                <a:srgbClr val="999999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</p:spTree>
    <p:extLst>
      <p:ext uri="{BB962C8B-B14F-4D97-AF65-F5344CB8AC3E}">
        <p14:creationId xmlns:p14="http://schemas.microsoft.com/office/powerpoint/2010/main" val="17164729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74">
            <a:hlinkClick r:id="rId3"/>
          </p:cNvPr>
          <p:cNvSpPr txBox="1"/>
          <p:nvPr/>
        </p:nvSpPr>
        <p:spPr>
          <a:xfrm>
            <a:off x="447575" y="476250"/>
            <a:ext cx="40386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dirty="0">
                <a:solidFill>
                  <a:srgbClr val="FF0000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Business Model 2</a:t>
            </a:r>
            <a:endParaRPr sz="3400" dirty="0">
              <a:solidFill>
                <a:srgbClr val="FF0000"/>
              </a:solidFill>
              <a:latin typeface="Gothic A1 SemiBold"/>
              <a:ea typeface="Gothic A1 SemiBold"/>
              <a:cs typeface="Gothic A1 SemiBold"/>
              <a:sym typeface="Gothic A1 SemiBold"/>
            </a:endParaRPr>
          </a:p>
        </p:txBody>
      </p:sp>
      <p:sp>
        <p:nvSpPr>
          <p:cNvPr id="488" name="Google Shape;488;p74"/>
          <p:cNvSpPr txBox="1"/>
          <p:nvPr/>
        </p:nvSpPr>
        <p:spPr>
          <a:xfrm>
            <a:off x="541618" y="1187057"/>
            <a:ext cx="3714695" cy="243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120"/>
              </a:spcAft>
            </a:pPr>
            <a:r>
              <a:rPr lang="en-GB" sz="800" b="1" i="1" u="sng" dirty="0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Offering</a:t>
            </a:r>
          </a:p>
          <a:p>
            <a:pPr>
              <a:lnSpc>
                <a:spcPct val="107000"/>
              </a:lnSpc>
              <a:spcAft>
                <a:spcPts val="120"/>
              </a:spcAft>
            </a:pP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"/>
              </a:spcAft>
            </a:pPr>
            <a:r>
              <a:rPr lang="en-GB" sz="800" b="1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sz="800" b="1" dirty="0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 propositions</a:t>
            </a: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The value proposition provides value through various elements such as: </a:t>
            </a:r>
          </a:p>
          <a:p>
            <a:pPr>
              <a:lnSpc>
                <a:spcPct val="107000"/>
              </a:lnSpc>
              <a:spcAft>
                <a:spcPts val="120"/>
              </a:spcAft>
            </a:pP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newness / innovativeness, </a:t>
            </a:r>
          </a:p>
          <a:p>
            <a:pPr>
              <a:lnSpc>
                <a:spcPct val="107000"/>
              </a:lnSpc>
              <a:spcAft>
                <a:spcPts val="120"/>
              </a:spcAft>
            </a:pP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performance, </a:t>
            </a:r>
          </a:p>
          <a:p>
            <a:pPr>
              <a:lnSpc>
                <a:spcPct val="107000"/>
              </a:lnSpc>
              <a:spcAft>
                <a:spcPts val="120"/>
              </a:spcAft>
            </a:pP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customization, </a:t>
            </a:r>
          </a:p>
          <a:p>
            <a:pPr>
              <a:lnSpc>
                <a:spcPct val="107000"/>
              </a:lnSpc>
              <a:spcAft>
                <a:spcPts val="120"/>
              </a:spcAft>
            </a:pP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"getting the job done", </a:t>
            </a:r>
          </a:p>
          <a:p>
            <a:pPr>
              <a:lnSpc>
                <a:spcPct val="107000"/>
              </a:lnSpc>
              <a:spcAft>
                <a:spcPts val="120"/>
              </a:spcAft>
            </a:pP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design, </a:t>
            </a:r>
          </a:p>
          <a:p>
            <a:pPr>
              <a:lnSpc>
                <a:spcPct val="107000"/>
              </a:lnSpc>
              <a:spcAft>
                <a:spcPts val="120"/>
              </a:spcAft>
            </a:pP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brand/status, </a:t>
            </a:r>
          </a:p>
          <a:p>
            <a:pPr>
              <a:lnSpc>
                <a:spcPct val="107000"/>
              </a:lnSpc>
              <a:spcAft>
                <a:spcPts val="120"/>
              </a:spcAft>
            </a:pPr>
            <a:r>
              <a:rPr lang="en-GB" sz="800" dirty="0">
                <a:solidFill>
                  <a:srgbClr val="202122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p</a:t>
            </a: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rice, </a:t>
            </a:r>
          </a:p>
          <a:p>
            <a:pPr>
              <a:lnSpc>
                <a:spcPct val="107000"/>
              </a:lnSpc>
              <a:spcAft>
                <a:spcPts val="120"/>
              </a:spcAft>
            </a:pP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cost reduction, </a:t>
            </a:r>
          </a:p>
          <a:p>
            <a:pPr>
              <a:lnSpc>
                <a:spcPct val="107000"/>
              </a:lnSpc>
              <a:spcAft>
                <a:spcPts val="120"/>
              </a:spcAft>
            </a:pP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risk reduction, </a:t>
            </a:r>
          </a:p>
          <a:p>
            <a:pPr>
              <a:lnSpc>
                <a:spcPct val="107000"/>
              </a:lnSpc>
              <a:spcAft>
                <a:spcPts val="120"/>
              </a:spcAft>
            </a:pP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accessibility, and </a:t>
            </a:r>
          </a:p>
          <a:p>
            <a:pPr>
              <a:lnSpc>
                <a:spcPct val="107000"/>
              </a:lnSpc>
              <a:spcAft>
                <a:spcPts val="120"/>
              </a:spcAft>
            </a:pP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convenience/usability.</a:t>
            </a:r>
          </a:p>
          <a:p>
            <a:pPr>
              <a:lnSpc>
                <a:spcPct val="107000"/>
              </a:lnSpc>
              <a:spcAft>
                <a:spcPts val="120"/>
              </a:spcAft>
            </a:pP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lnSpc>
                <a:spcPct val="107000"/>
              </a:lnSpc>
              <a:spcAft>
                <a:spcPts val="120"/>
              </a:spcAft>
            </a:pP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○ Qualitative – overall customer experience and outcome</a:t>
            </a: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endParaRPr lang="en-GB" sz="800" dirty="0">
              <a:solidFill>
                <a:schemeClr val="tx1"/>
              </a:solidFill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GB" sz="800" dirty="0">
              <a:latin typeface="Barlow" panose="00000500000000000000" pitchFamily="2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 b="1" dirty="0">
              <a:solidFill>
                <a:srgbClr val="999999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469A8D-5C09-7C66-3266-085F47E1CC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223" y="1759527"/>
            <a:ext cx="3776712" cy="3776712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72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295409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74">
            <a:hlinkClick r:id="rId3"/>
          </p:cNvPr>
          <p:cNvSpPr txBox="1"/>
          <p:nvPr/>
        </p:nvSpPr>
        <p:spPr>
          <a:xfrm>
            <a:off x="447575" y="476250"/>
            <a:ext cx="40386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dirty="0">
                <a:solidFill>
                  <a:srgbClr val="FF0000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Business Model 3</a:t>
            </a:r>
            <a:endParaRPr sz="3400" dirty="0">
              <a:solidFill>
                <a:srgbClr val="FF0000"/>
              </a:solidFill>
              <a:latin typeface="Gothic A1 SemiBold"/>
              <a:ea typeface="Gothic A1 SemiBold"/>
              <a:cs typeface="Gothic A1 SemiBold"/>
              <a:sym typeface="Gothic A1 SemiBold"/>
            </a:endParaRPr>
          </a:p>
        </p:txBody>
      </p:sp>
      <p:sp>
        <p:nvSpPr>
          <p:cNvPr id="488" name="Google Shape;488;p74"/>
          <p:cNvSpPr txBox="1"/>
          <p:nvPr/>
        </p:nvSpPr>
        <p:spPr>
          <a:xfrm>
            <a:off x="541618" y="1187059"/>
            <a:ext cx="4030381" cy="2070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120"/>
              </a:spcAft>
            </a:pPr>
            <a:r>
              <a:rPr lang="en-GB" sz="800" b="1" i="1" u="sng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</a:p>
          <a:p>
            <a:pPr>
              <a:lnSpc>
                <a:spcPct val="107000"/>
              </a:lnSpc>
              <a:spcAft>
                <a:spcPts val="120"/>
              </a:spcAft>
            </a:pP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"/>
              </a:spcAft>
            </a:pPr>
            <a:r>
              <a:rPr lang="en-GB" sz="800" b="1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Customer Segments</a:t>
            </a: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120"/>
              </a:spcAft>
            </a:pP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○ </a:t>
            </a:r>
            <a:r>
              <a:rPr lang="en-GB" sz="800" u="sng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Niche market </a:t>
            </a:r>
            <a:r>
              <a:rPr lang="en-GB" sz="800" u="sng" dirty="0">
                <a:solidFill>
                  <a:srgbClr val="202122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>
              <a:lnSpc>
                <a:spcPct val="107000"/>
              </a:lnSpc>
              <a:spcAft>
                <a:spcPts val="120"/>
              </a:spcAft>
            </a:pP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- Premium customers</a:t>
            </a:r>
            <a:endParaRPr lang="en-GB" sz="800" dirty="0"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120"/>
              </a:spcAft>
            </a:pPr>
            <a:endParaRPr lang="en-GB" sz="800" dirty="0">
              <a:solidFill>
                <a:schemeClr val="tx1"/>
              </a:solidFill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120"/>
              </a:spcAft>
            </a:pPr>
            <a:r>
              <a:rPr lang="en-GB" sz="800" b="1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Customer Channels</a:t>
            </a: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>
              <a:lnSpc>
                <a:spcPct val="107000"/>
              </a:lnSpc>
              <a:spcAft>
                <a:spcPts val="120"/>
              </a:spcAft>
            </a:pP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○ </a:t>
            </a:r>
            <a:r>
              <a:rPr lang="en-GB" sz="800" u="sng" dirty="0">
                <a:solidFill>
                  <a:srgbClr val="202122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Own channel</a:t>
            </a:r>
            <a:endParaRPr lang="en-GB" sz="800" u="sng" dirty="0">
              <a:solidFill>
                <a:srgbClr val="202122"/>
              </a:solidFill>
              <a:effectLst/>
              <a:latin typeface="Barlow" panose="00000500000000000000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"/>
              </a:spcAft>
            </a:pP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"/>
              </a:spcAft>
            </a:pPr>
            <a:r>
              <a:rPr lang="en-GB" sz="800" b="1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Customer Relationships</a:t>
            </a: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GB" sz="800" dirty="0">
              <a:solidFill>
                <a:srgbClr val="202122"/>
              </a:solidFill>
              <a:latin typeface="Barlow" panose="00000500000000000000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120"/>
              </a:spcAft>
            </a:pP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○ </a:t>
            </a:r>
            <a:r>
              <a:rPr lang="en-GB" sz="800" u="sng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Personal assistance</a:t>
            </a: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120"/>
              </a:spcAft>
            </a:pP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○ </a:t>
            </a:r>
            <a:r>
              <a:rPr lang="en-GB" sz="800" u="sng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Dedicated personal assistance</a:t>
            </a: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120"/>
              </a:spcAft>
            </a:pP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○ </a:t>
            </a:r>
            <a:r>
              <a:rPr lang="en-GB" sz="800" u="sng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Self-service</a:t>
            </a: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120"/>
              </a:spcAft>
            </a:pP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○ </a:t>
            </a:r>
            <a:r>
              <a:rPr lang="en-GB" sz="800" u="sng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Automated services</a:t>
            </a: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endParaRPr lang="en-GB" sz="800" dirty="0">
              <a:solidFill>
                <a:schemeClr val="tx1"/>
              </a:solidFill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GB" sz="800" dirty="0">
              <a:latin typeface="Barlow" panose="00000500000000000000" pitchFamily="2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 b="1" dirty="0">
              <a:solidFill>
                <a:srgbClr val="999999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86E3DA-9318-2940-48FA-C870F47268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1713" y="1839980"/>
            <a:ext cx="3324616" cy="332461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6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F99284-2785-D60C-4EE3-0042EDF27E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7362" y="440391"/>
            <a:ext cx="2918385" cy="2918385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5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706660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74">
            <a:hlinkClick r:id="rId3"/>
          </p:cNvPr>
          <p:cNvSpPr txBox="1"/>
          <p:nvPr/>
        </p:nvSpPr>
        <p:spPr>
          <a:xfrm>
            <a:off x="447575" y="476250"/>
            <a:ext cx="40386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dirty="0">
                <a:solidFill>
                  <a:srgbClr val="FF0000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Business Model 6</a:t>
            </a:r>
            <a:endParaRPr sz="3400" dirty="0">
              <a:solidFill>
                <a:srgbClr val="FF0000"/>
              </a:solidFill>
              <a:latin typeface="Gothic A1 SemiBold"/>
              <a:ea typeface="Gothic A1 SemiBold"/>
              <a:cs typeface="Gothic A1 SemiBold"/>
              <a:sym typeface="Gothic A1 SemiBold"/>
            </a:endParaRPr>
          </a:p>
        </p:txBody>
      </p:sp>
      <p:sp>
        <p:nvSpPr>
          <p:cNvPr id="488" name="Google Shape;488;p74"/>
          <p:cNvSpPr txBox="1"/>
          <p:nvPr/>
        </p:nvSpPr>
        <p:spPr>
          <a:xfrm>
            <a:off x="541618" y="1187058"/>
            <a:ext cx="3767417" cy="2416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120"/>
              </a:spcAft>
            </a:pPr>
            <a:r>
              <a:rPr lang="en-GB" sz="800" b="1" i="1" u="sng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Finances</a:t>
            </a:r>
          </a:p>
          <a:p>
            <a:pPr>
              <a:lnSpc>
                <a:spcPct val="107000"/>
              </a:lnSpc>
              <a:spcAft>
                <a:spcPts val="120"/>
              </a:spcAft>
            </a:pP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"/>
              </a:spcAft>
            </a:pPr>
            <a:r>
              <a:rPr lang="en-GB" sz="800" b="1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sz="800" b="1" dirty="0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Cost structure</a:t>
            </a: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The most important monetary consequences while operating under different business models.</a:t>
            </a: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lnSpc>
                <a:spcPct val="107000"/>
              </a:lnSpc>
              <a:spcAft>
                <a:spcPts val="120"/>
              </a:spcAft>
            </a:pP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○ </a:t>
            </a:r>
            <a:r>
              <a:rPr lang="en-GB" sz="800" u="sng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Classes of business structures:</a:t>
            </a:r>
            <a:endParaRPr lang="en-GB" sz="800" u="sng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>
              <a:lnSpc>
                <a:spcPct val="107000"/>
              </a:lnSpc>
              <a:spcAft>
                <a:spcPts val="120"/>
              </a:spcAft>
            </a:pP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▪ </a:t>
            </a:r>
            <a:r>
              <a:rPr lang="en-GB" sz="800" i="1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Value-driven</a:t>
            </a: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Less concerned with cost, </a:t>
            </a:r>
            <a:r>
              <a:rPr lang="en-GB" sz="800" dirty="0">
                <a:solidFill>
                  <a:srgbClr val="202122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focuses on creating value for products and services: e.g., Louis Vuitton, Rolex.</a:t>
            </a:r>
          </a:p>
          <a:p>
            <a:pPr marL="914400">
              <a:lnSpc>
                <a:spcPct val="107000"/>
              </a:lnSpc>
              <a:spcAft>
                <a:spcPts val="120"/>
              </a:spcAft>
            </a:pP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lnSpc>
                <a:spcPct val="107000"/>
              </a:lnSpc>
              <a:spcAft>
                <a:spcPts val="120"/>
              </a:spcAft>
            </a:pP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○ </a:t>
            </a:r>
            <a:r>
              <a:rPr lang="en-GB" sz="800" u="sng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Characteristics of cost structures</a:t>
            </a: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>
              <a:lnSpc>
                <a:spcPct val="107000"/>
              </a:lnSpc>
              <a:spcAft>
                <a:spcPts val="120"/>
              </a:spcAft>
            </a:pP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▪ </a:t>
            </a:r>
            <a:r>
              <a:rPr lang="en-GB" sz="800" i="1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Fixed costs </a:t>
            </a: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GB" sz="800" dirty="0">
                <a:solidFill>
                  <a:srgbClr val="202122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web and App expenses, Cloud, Customer service, Rental</a:t>
            </a: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>
              <a:lnSpc>
                <a:spcPct val="107000"/>
              </a:lnSpc>
              <a:spcAft>
                <a:spcPts val="120"/>
              </a:spcAft>
            </a:pP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▪ </a:t>
            </a:r>
            <a:r>
              <a:rPr lang="en-GB" sz="800" i="1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Variable costs </a:t>
            </a: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Marketing, App R&amp;D, innovation.</a:t>
            </a: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>
              <a:lnSpc>
                <a:spcPct val="107000"/>
              </a:lnSpc>
              <a:spcAft>
                <a:spcPts val="120"/>
              </a:spcAft>
            </a:pP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▪ </a:t>
            </a:r>
            <a:r>
              <a:rPr lang="en-GB" sz="800" i="1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Economies of scale </a:t>
            </a: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go down as the number of services and products ordered goes up.</a:t>
            </a: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>
              <a:lnSpc>
                <a:spcPct val="107000"/>
              </a:lnSpc>
              <a:spcAft>
                <a:spcPts val="120"/>
              </a:spcAft>
            </a:pP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▪ </a:t>
            </a:r>
            <a:r>
              <a:rPr lang="en-GB" sz="800" i="1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Economies of scope </a:t>
            </a: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Costs go down due to incorporating other businesses like Customer Support which have a direct relation to the original product.</a:t>
            </a: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endParaRPr lang="en-GB" sz="800" dirty="0">
              <a:solidFill>
                <a:schemeClr val="tx1"/>
              </a:solidFill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GB" sz="800" dirty="0">
              <a:latin typeface="Barlow" panose="00000500000000000000" pitchFamily="2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 b="1" dirty="0">
              <a:solidFill>
                <a:srgbClr val="999999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95C76F-F6EC-29DE-0B14-B6FC3702C4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3857" y="1116347"/>
            <a:ext cx="4305244" cy="4305244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69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612687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74">
            <a:hlinkClick r:id="rId3"/>
          </p:cNvPr>
          <p:cNvSpPr txBox="1"/>
          <p:nvPr/>
        </p:nvSpPr>
        <p:spPr>
          <a:xfrm>
            <a:off x="447575" y="476250"/>
            <a:ext cx="40386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dirty="0">
                <a:solidFill>
                  <a:srgbClr val="FF0000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Business Model 8</a:t>
            </a:r>
            <a:endParaRPr sz="3400" dirty="0">
              <a:solidFill>
                <a:srgbClr val="FF0000"/>
              </a:solidFill>
              <a:latin typeface="Gothic A1 SemiBold"/>
              <a:ea typeface="Gothic A1 SemiBold"/>
              <a:cs typeface="Gothic A1 SemiBold"/>
              <a:sym typeface="Gothic A1 SemiBold"/>
            </a:endParaRPr>
          </a:p>
        </p:txBody>
      </p:sp>
      <p:sp>
        <p:nvSpPr>
          <p:cNvPr id="488" name="Google Shape;488;p74"/>
          <p:cNvSpPr txBox="1"/>
          <p:nvPr/>
        </p:nvSpPr>
        <p:spPr>
          <a:xfrm>
            <a:off x="541618" y="1187058"/>
            <a:ext cx="4887943" cy="2877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7000"/>
              </a:lnSpc>
              <a:spcBef>
                <a:spcPts val="360"/>
              </a:spcBef>
              <a:spcAft>
                <a:spcPts val="800"/>
              </a:spcAft>
            </a:pPr>
            <a:r>
              <a:rPr lang="en-GB" sz="800" b="1" dirty="0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Continuous deployment (only for software development) </a:t>
            </a: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360"/>
              </a:spcBef>
              <a:spcAft>
                <a:spcPts val="800"/>
              </a:spcAft>
            </a:pP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Continuous deployment</a:t>
            </a:r>
            <a:r>
              <a:rPr lang="en-GB" sz="800" dirty="0">
                <a:solidFill>
                  <a:srgbClr val="202122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800" dirty="0">
                <a:solidFill>
                  <a:schemeClr val="tx1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GB" sz="800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continuous delivery </a:t>
            </a: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whereby all code that is written for an application is immediately deployed into production</a:t>
            </a:r>
            <a:r>
              <a:rPr lang="en-GB" sz="800" dirty="0">
                <a:solidFill>
                  <a:srgbClr val="202122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which results in a reduction </a:t>
            </a:r>
            <a:r>
              <a:rPr lang="en-GB" sz="800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 cycle times. </a:t>
            </a:r>
            <a:r>
              <a:rPr lang="en-GB" sz="800" dirty="0">
                <a:solidFill>
                  <a:schemeClr val="tx1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TFS </a:t>
            </a:r>
            <a:r>
              <a:rPr lang="en-GB" sz="800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works </a:t>
            </a:r>
            <a:r>
              <a:rPr lang="en-GB" sz="800" dirty="0">
                <a:solidFill>
                  <a:srgbClr val="202122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deploy new code into production as often </a:t>
            </a:r>
            <a:r>
              <a:rPr lang="en-GB" sz="800" u="sng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 50 times a day</a:t>
            </a: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07000"/>
              </a:lnSpc>
              <a:spcBef>
                <a:spcPts val="360"/>
              </a:spcBef>
              <a:spcAft>
                <a:spcPts val="800"/>
              </a:spcAft>
            </a:pPr>
            <a:r>
              <a:rPr lang="en-GB" sz="800" b="1" dirty="0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Innovation accounting</a:t>
            </a: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800" dirty="0">
                <a:solidFill>
                  <a:srgbClr val="202122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focuses on maintain accountability and maximize outcomes by measuring progress, planning milestones, and prioritising. </a:t>
            </a:r>
            <a:r>
              <a:rPr lang="en-GB" sz="800" u="sng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topic was later expanded upon to include three levels of innovation accounting related to the types of assumptions being validated. </a:t>
            </a:r>
            <a:endParaRPr lang="en-GB" sz="800" u="sng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360"/>
              </a:spcBef>
              <a:spcAft>
                <a:spcPts val="800"/>
              </a:spcAft>
            </a:pPr>
            <a:r>
              <a:rPr lang="en-GB" sz="800" b="1" dirty="0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Build – Measure – Learn</a:t>
            </a:r>
            <a:endParaRPr lang="en-GB" sz="800" b="1" dirty="0">
              <a:latin typeface="Barlow" panose="00000500000000000000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360"/>
              </a:spcBef>
              <a:spcAft>
                <a:spcPts val="800"/>
              </a:spcAft>
            </a:pP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Develop–Measure–Learn loop emphasizes speed as a critical ingredient to customer development. Effectiveness is determined by our ability to ideate, quickly </a:t>
            </a:r>
            <a:r>
              <a:rPr lang="en-GB" sz="800" dirty="0">
                <a:solidFill>
                  <a:schemeClr val="tx1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develop</a:t>
            </a:r>
            <a:r>
              <a:rPr lang="en-GB" sz="800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 </a:t>
            </a:r>
            <a:r>
              <a:rPr lang="en-GB" sz="800" u="sng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minimum viable product</a:t>
            </a:r>
            <a:r>
              <a:rPr lang="en-GB" sz="800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of that idea, measure its effectiveness in the market, customers' reactions and behaviours against developed Apps, and learn from that experiment</a:t>
            </a: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I</a:t>
            </a:r>
            <a:r>
              <a:rPr lang="en-GB" sz="800" dirty="0">
                <a:solidFill>
                  <a:schemeClr val="tx1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 is a learning cycle of turning ideas into Apps, measuring, and then </a:t>
            </a: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deciding whether to persevere or pivot the idea; this process repeats as many times as necessary. The process can also be viewed as a test of hypotheses. The phases of the loop are: Ideas → </a:t>
            </a:r>
            <a:r>
              <a:rPr lang="en-GB" sz="800" b="1" dirty="0">
                <a:solidFill>
                  <a:srgbClr val="202122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Develop</a:t>
            </a: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→ </a:t>
            </a:r>
            <a:r>
              <a:rPr lang="en-GB" sz="800" b="1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Measure</a:t>
            </a: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→ Data → </a:t>
            </a:r>
            <a:r>
              <a:rPr lang="en-GB" sz="800" b="1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Learn</a:t>
            </a:r>
            <a:r>
              <a:rPr lang="en-GB" sz="800" dirty="0">
                <a:solidFill>
                  <a:srgbClr val="202122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endParaRPr lang="en-GB" sz="800" dirty="0">
              <a:solidFill>
                <a:srgbClr val="202122"/>
              </a:solidFill>
              <a:effectLst/>
              <a:latin typeface="Barlow" panose="00000500000000000000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endParaRPr lang="en-GB" sz="800" dirty="0">
              <a:solidFill>
                <a:schemeClr val="tx1"/>
              </a:solidFill>
              <a:effectLst/>
              <a:latin typeface="Barlow" panose="000005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GB" sz="800" dirty="0">
              <a:latin typeface="Barlow" panose="00000500000000000000" pitchFamily="2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 b="1" dirty="0">
              <a:solidFill>
                <a:srgbClr val="999999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8CDF96-BE44-3C7D-DF3C-FEBFE143C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1229" y="820011"/>
            <a:ext cx="1939230" cy="193923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69000"/>
              </a:srgbClr>
            </a:outerShdw>
          </a:effectLst>
        </p:spPr>
      </p:pic>
      <p:pic>
        <p:nvPicPr>
          <p:cNvPr id="6" name="Picture 5" descr="Diagram, shape, arrow&#10;&#10;Description automatically generated">
            <a:hlinkClick r:id="rId5"/>
            <a:extLst>
              <a:ext uri="{FF2B5EF4-FFF2-40B4-BE49-F238E27FC236}">
                <a16:creationId xmlns:a16="http://schemas.microsoft.com/office/drawing/2014/main" id="{1801E3FF-E7D9-ACD0-22EF-7129A183B8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0905" y="2571750"/>
            <a:ext cx="1948211" cy="15751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364624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76">
            <a:hlinkClick r:id="rId3"/>
          </p:cNvPr>
          <p:cNvSpPr txBox="1"/>
          <p:nvPr/>
        </p:nvSpPr>
        <p:spPr>
          <a:xfrm>
            <a:off x="447575" y="476250"/>
            <a:ext cx="40386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dirty="0">
                <a:solidFill>
                  <a:srgbClr val="FF0000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F</a:t>
            </a:r>
            <a:r>
              <a:rPr lang="en" sz="3400" dirty="0">
                <a:solidFill>
                  <a:srgbClr val="666666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undraising Ask</a:t>
            </a:r>
            <a:endParaRPr sz="3400" dirty="0">
              <a:solidFill>
                <a:srgbClr val="666666"/>
              </a:solidFill>
              <a:latin typeface="Gothic A1 SemiBold"/>
              <a:ea typeface="Gothic A1 SemiBold"/>
              <a:cs typeface="Gothic A1 SemiBold"/>
              <a:sym typeface="Gothic A1 SemiBold"/>
            </a:endParaRPr>
          </a:p>
        </p:txBody>
      </p:sp>
      <p:sp>
        <p:nvSpPr>
          <p:cNvPr id="508" name="Google Shape;508;p76"/>
          <p:cNvSpPr txBox="1"/>
          <p:nvPr/>
        </p:nvSpPr>
        <p:spPr>
          <a:xfrm>
            <a:off x="488525" y="1100225"/>
            <a:ext cx="3597600" cy="210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5000"/>
              </a:lnSpc>
              <a:buSzPts val="1100"/>
            </a:pPr>
            <a:r>
              <a:rPr lang="en-GB" sz="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The expected funding requirement is QAR 12 million (USD 3.2 million). It will be used to cover</a:t>
            </a:r>
            <a:r>
              <a:rPr lang="en-GB" sz="800" dirty="0">
                <a:latin typeface="Barlow" panose="00000500000000000000" pitchFamily="2" charset="0"/>
              </a:rPr>
              <a:t> progress and the company’s operations that will become more complex, related human resources and office space</a:t>
            </a:r>
            <a:r>
              <a:rPr lang="en-GB" sz="800" dirty="0">
                <a:latin typeface="Barlow" panose="00000500000000000000" pitchFamily="2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15000"/>
              </a:lnSpc>
              <a:buSzPts val="1100"/>
            </a:pPr>
            <a:endParaRPr lang="en-GB" sz="800" dirty="0">
              <a:latin typeface="Barlow" panose="00000500000000000000" pitchFamily="2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SzPts val="1100"/>
            </a:pPr>
            <a:r>
              <a:rPr lang="en-GB" sz="800" dirty="0">
                <a:solidFill>
                  <a:srgbClr val="201F1E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The money will also be put towards R&amp;D and innovation to continuously develop </a:t>
            </a:r>
            <a:r>
              <a:rPr lang="en-GB" sz="800" u="sng" dirty="0">
                <a:solidFill>
                  <a:schemeClr val="accent1">
                    <a:lumMod val="75000"/>
                  </a:schemeClr>
                </a:solidFill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sayaritee</a:t>
            </a:r>
            <a:r>
              <a:rPr lang="en-GB" sz="800" u="sng" dirty="0">
                <a:solidFill>
                  <a:schemeClr val="accent1">
                    <a:lumMod val="75000"/>
                  </a:schemeClr>
                </a:solidFill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.com</a:t>
            </a:r>
            <a:r>
              <a:rPr lang="en-GB" sz="800" u="sng" dirty="0">
                <a:solidFill>
                  <a:srgbClr val="201F1E"/>
                </a:solidFill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GB" sz="800" dirty="0">
                <a:solidFill>
                  <a:srgbClr val="201F1E"/>
                </a:solidFill>
                <a:latin typeface="Barlow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 as well as </a:t>
            </a:r>
            <a:r>
              <a:rPr lang="en-GB" sz="800" dirty="0">
                <a:solidFill>
                  <a:srgbClr val="201F1E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</a:rPr>
              <a:t>fast scaling of the operations and adjustment of App to the Middle East, Central America (SICA), US, Europe </a:t>
            </a:r>
            <a:r>
              <a:rPr lang="en-GB" sz="800" dirty="0">
                <a:solidFill>
                  <a:srgbClr val="000000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18-24 months.</a:t>
            </a:r>
          </a:p>
          <a:p>
            <a:pPr>
              <a:lnSpc>
                <a:spcPct val="115000"/>
              </a:lnSpc>
              <a:buSzPts val="1100"/>
            </a:pPr>
            <a:endParaRPr lang="en-GB" sz="800" b="1" dirty="0">
              <a:latin typeface="Barlow" panose="00000500000000000000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SzPts val="1100"/>
            </a:pPr>
            <a:r>
              <a:rPr lang="en-GB" sz="800" dirty="0">
                <a:solidFill>
                  <a:srgbClr val="334155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GB" sz="800" dirty="0">
                <a:solidFill>
                  <a:srgbClr val="334155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 original </a:t>
            </a:r>
            <a:r>
              <a:rPr lang="en-GB" sz="800" u="sng" dirty="0">
                <a:solidFill>
                  <a:srgbClr val="334155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plan / track may change / modify / evolve in unforeseeable </a:t>
            </a:r>
            <a:r>
              <a:rPr lang="en-GB" sz="800" dirty="0">
                <a:solidFill>
                  <a:srgbClr val="334155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ways post-investment engagement with real world consequences. It is absolutely mission-critical</a:t>
            </a:r>
            <a:r>
              <a:rPr lang="en-GB" sz="800" dirty="0">
                <a:solidFill>
                  <a:srgbClr val="334155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possible</a:t>
            </a:r>
            <a:r>
              <a:rPr lang="en-GB" sz="800" dirty="0">
                <a:solidFill>
                  <a:srgbClr val="334155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changing / modification that will reward an early investor who </a:t>
            </a:r>
            <a:r>
              <a:rPr lang="en-GB" sz="800" dirty="0">
                <a:solidFill>
                  <a:srgbClr val="334155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GB" sz="800" dirty="0">
                <a:solidFill>
                  <a:srgbClr val="334155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with us as a partner </a:t>
            </a:r>
            <a:r>
              <a:rPr lang="en-GB" sz="800" u="sng" dirty="0">
                <a:solidFill>
                  <a:srgbClr val="334155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GB" sz="800" u="sng" dirty="0">
                <a:solidFill>
                  <a:srgbClr val="334155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alignment on this change / modification / evolution </a:t>
            </a:r>
            <a:r>
              <a:rPr lang="en-GB" sz="800" dirty="0">
                <a:solidFill>
                  <a:srgbClr val="334155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agree on the way forward together. Given this crucial agreement on the </a:t>
            </a:r>
            <a:r>
              <a:rPr lang="en-GB" sz="800" dirty="0">
                <a:solidFill>
                  <a:srgbClr val="334155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lang="en-GB" sz="800" dirty="0">
                <a:solidFill>
                  <a:srgbClr val="334155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’s evolution, investor engagement is in fact key to </a:t>
            </a:r>
            <a:r>
              <a:rPr lang="en-GB" sz="800" dirty="0">
                <a:solidFill>
                  <a:srgbClr val="334155"/>
                </a:solidFill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mission for the growth of App and</a:t>
            </a:r>
            <a:r>
              <a:rPr lang="en-GB" sz="800" dirty="0">
                <a:solidFill>
                  <a:srgbClr val="334155"/>
                </a:solidFill>
                <a:effectLst/>
                <a:latin typeface="Barlow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company.</a:t>
            </a: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SzPts val="1100"/>
            </a:pPr>
            <a:endParaRPr lang="en-GB" sz="800" dirty="0"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SzPts val="1100"/>
            </a:pPr>
            <a:endParaRPr lang="en-GB" sz="800" dirty="0">
              <a:solidFill>
                <a:srgbClr val="201F1E"/>
              </a:solidFill>
              <a:latin typeface="Barlow" panose="00000500000000000000" pitchFamily="2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509" name="Google Shape;509;p76"/>
          <p:cNvSpPr/>
          <p:nvPr/>
        </p:nvSpPr>
        <p:spPr>
          <a:xfrm>
            <a:off x="5141634" y="1114107"/>
            <a:ext cx="2951277" cy="3002634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469" r="-3469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3999</TotalTime>
  <Words>2915</Words>
  <Application>Microsoft Macintosh PowerPoint</Application>
  <PresentationFormat>On-screen Show (16:9)</PresentationFormat>
  <Paragraphs>348</Paragraphs>
  <Slides>35</Slides>
  <Notes>34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6" baseType="lpstr">
      <vt:lpstr>Arial</vt:lpstr>
      <vt:lpstr>Barlow</vt:lpstr>
      <vt:lpstr>Calibri</vt:lpstr>
      <vt:lpstr>Gothic A1</vt:lpstr>
      <vt:lpstr>Gothic A1 SemiBold</vt:lpstr>
      <vt:lpstr>Helvetica Neue</vt:lpstr>
      <vt:lpstr>Playfair Display Black</vt:lpstr>
      <vt:lpstr>Times New Roman</vt:lpstr>
      <vt:lpstr>Simple Light</vt:lpstr>
      <vt:lpstr>Simple Light</vt:lpstr>
      <vt:lpstr>Worksheet</vt:lpstr>
      <vt:lpstr>SAYARITEE / MY VEHICLE / MI VEHÍCULO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Seed pitch deck template</dc:title>
  <dc:creator>Miki</dc:creator>
  <cp:lastModifiedBy>Shaz EJ</cp:lastModifiedBy>
  <cp:revision>190</cp:revision>
  <cp:lastPrinted>2022-05-09T06:55:01Z</cp:lastPrinted>
  <dcterms:modified xsi:type="dcterms:W3CDTF">2025-11-07T11:56:52Z</dcterms:modified>
</cp:coreProperties>
</file>